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66420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6642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HPC SYSTEMS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532888" y="411480"/>
            <a:ext cx="33238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532888" y="411480"/>
            <a:ext cx="33238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RESEARCH REPRODUCTION &amp; EXTENSION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96012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Locality-Aware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594360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Task Scheduling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4937760" cy="822960"/>
          </a:xfrm>
          <a:prstGeom prst="roundRect">
            <a:avLst>
              <a:gd name="adj" fmla="val 11111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42316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on Heterogeneous HPC</a:t>
            </a:r>
            <a:endParaRPr lang="en-US" sz="3200" dirty="0"/>
          </a:p>
        </p:txBody>
      </p:sp>
      <p:sp>
        <p:nvSpPr>
          <p:cNvPr id="10" name="Shape 8"/>
          <p:cNvSpPr/>
          <p:nvPr/>
        </p:nvSpPr>
        <p:spPr>
          <a:xfrm>
            <a:off x="731520" y="3474720"/>
            <a:ext cx="2103120" cy="320040"/>
          </a:xfrm>
          <a:prstGeom prst="roundRect">
            <a:avLst>
              <a:gd name="adj" fmla="val 48571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4747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Opteron 8-Node NUMA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944368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DCE4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4368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TILEPro64 8×8 Mesh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91456" y="3474720"/>
            <a:ext cx="1737360" cy="320040"/>
          </a:xfrm>
          <a:prstGeom prst="roundRect">
            <a:avLst>
              <a:gd name="adj" fmla="val 48571"/>
            </a:avLst>
          </a:prstGeom>
          <a:solidFill>
            <a:srgbClr val="FFE5D9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91456" y="34747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Co-Scheduler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731520" y="402336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empirical reproduction of Muddukrishna et al. (Scientific Programming 2015), uncovering the SparseLU locality paradox (+15.1% slowdown), and delivering the NOVA co-scheduling runtime architecture for multi-socket servers and 2D mesh manycores.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on Heterogeneous HPC Architectures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/ 06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272784" y="1060704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1005840"/>
            <a:ext cx="521208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11887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Dual-Architecture Latency Cliffs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92240" y="155448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blind work-stealing collapses on non-uniform memory topologies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9224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(NUMA)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Sockets · 48 Cores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DRAM: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Socket Bus: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– 340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(6× – 8× Latency Cliff)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8915400" y="1920240"/>
            <a:ext cx="2240280" cy="2103120"/>
          </a:xfrm>
          <a:prstGeom prst="roundRect">
            <a:avLst>
              <a:gd name="adj" fmla="val 521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06840" y="2011680"/>
            <a:ext cx="2057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(Mesh)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006840" y="2267712"/>
            <a:ext cx="2057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Grid · 64 Cores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9006840" y="25146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Tile L2 Bank:
</a:t>
            </a:r>
            <a:pPr indent="0" marL="0">
              <a:buNone/>
            </a:pPr>
            <a:r>
              <a:rPr lang="en-US" sz="130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cycles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 Mesh Hop:
</a:t>
            </a:r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+ 2·h cycles
</a:t>
            </a:r>
            <a:pPr indent="0" marL="0">
              <a:buNone/>
            </a:pPr>
            <a:r>
              <a:rPr lang="en-US" sz="850" dirty="0">
                <a:solidFill>
                  <a:srgbClr val="4B55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(Up to 14 hops = 66 cyc)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92240" y="4206240"/>
            <a:ext cx="4663440" cy="1463040"/>
          </a:xfrm>
          <a:prstGeom prst="roundRect">
            <a:avLst>
              <a:gd name="adj" fmla="val 75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29400" y="425196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Fundamental Dilemma in HPC Schedulers:
</a:t>
            </a:r>
            <a:pPr indent="0" marL="0">
              <a:buNone/>
            </a:pPr>
            <a:r>
              <a:rPr lang="en-US" sz="10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cost(X) = Σ (D[i] / line_size) × latency(X, i)
</a:t>
            </a:r>
            <a:pPr indent="0" marL="0">
              <a:buNone/>
            </a:pPr>
            <a:r>
              <a:rPr lang="en-US" sz="9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Locality dealing cuts comm stalls by up to 80%...
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BUT starves idle cores when queue backlog is ignored!
</a:t>
            </a:r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Co-schedule memory locality AND core load balance.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1071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107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HARDWARE TOPOLOGY &amp; LATENCY MODELS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Memory Models,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0" y="822960"/>
            <a:ext cx="420624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0" y="82296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Two Latency Cliffs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Discrete socket memory hierarchies vs. distributed shared L2 cache on an 8×8 mesh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8-Node NUMA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0058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Hierarchical HyperTransport Bus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058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 discrete sockets (3–6 cores/node, 24–48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Discrete physical DRAM channels attached to each socket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~40 CPU cycles (Node RAM via integrated memory controller)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240 – 340 CPU cycles (Cross-socket HyperTransport bus)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3 hops maximum between opposing sockets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First-touch page allocation (4 KB page granularity)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Bus congestion under work-stealing drags 6×–8× stall penalty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72784" y="1883664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828800"/>
            <a:ext cx="5212080" cy="3429000"/>
          </a:xfrm>
          <a:prstGeom prst="roundRect">
            <a:avLst>
              <a:gd name="adj" fmla="val 4267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0116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64-Tile Manycore Mesh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492240" y="2377440"/>
            <a:ext cx="2560320" cy="23774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37744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8×8 2D Dynamic Mesh Network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92240" y="2743200"/>
            <a:ext cx="4663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Topology: 8×8 2D grid network (1 VLIW core per tile, 64 cores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Memory: Distributed shared L2 cache (64 KB slice homed per tile = 4 MB total)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Local Access: 10 CPU cycles (Local tile L2 cache bank)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Remote Access: 38 cycles base + 2 cycles per Manhattan hop (|Δx| + |Δy|)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Diameter: 14 hops between corners ((7-0) + (7-0) = 14 hops = 66 cycles)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Distribution: Coarse (entire buffer in 1 tile) vs Fine (striped cache lines)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Pathology: Center bisection link contention; static home cache trapping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Architectural Lesson: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NUMA, memory latency is tied to physical socket boundaries. In TILEPro64, it scales continuously with 2D geometric Manhattan distance. Uniform task schedulers fail catastrophically on both.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· Hardware Topology &amp; Latency Models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/ 06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RUNTIME PATHOLOGY AUDIT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Naive Locality Fails: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356616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33832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10 Hotspots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 audit of Muddukrishna et al. (2015) revealing root causes of runtime regression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Stealing &amp; Placement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DCE4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H1 – H4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 (Static Steal Reach): Fixed vicinity size starves threads on Map or drags 6× remote stalls on Vecmul.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H2 (Queue-Level Stealing): Pops victim queue tail blindly; ignores whether another task in that queue has local data!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H3 (Load-Blind Placement): Dealer routes to argmin(comm_cost) without reading queue length; piles all work on 1 core.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H4 (Binary Threshold Cliffs): Brittle sum(D) &gt; LLC/C gates trigger heavy O(N²) path with no calibration.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25696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70832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99432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 Model &amp; Feedback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99432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99432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H5 – H7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99432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H5 (Fragile Footprints): Footprint vector D relies on OpenMP depend clauses. Incomplete clauses silently ruin placement.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H6 (No Feedback Loop): Data distribution is frozen at omp_malloc. Runtime never migrates hot mis-placed pages.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H7 (Coarse/Fine Menu Blind Spot): Rigid 2-item menu fails on irregular matrix blocks (SparseLU), causing severe regression.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065008" y="1837944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10144" y="1783080"/>
            <a:ext cx="3410712" cy="3520440"/>
          </a:xfrm>
          <a:prstGeom prst="roundRect">
            <a:avLst>
              <a:gd name="adj" fmla="val 3753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84464" y="1920240"/>
            <a:ext cx="3044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Mesh Bottlenecks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284464" y="2212848"/>
            <a:ext cx="146304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84464" y="2212848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Hotspots H8 – H10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84464" y="2514600"/>
            <a:ext cx="3044952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H8 (Static Home-Cache Trapping): Data is permanently locked to initial home cache; forces brutal locality vs balance conflict.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H9 (Center Bisection Contention): XY dimension-order routing concentrates traffic on center bisection links (tiles 3,3 to 4,4).</a:t>
            </a: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endParaRPr lang="en-US" sz="9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H10 (2D Coarse/Fine Mismatch): 1D line striping destroys 2D spatial locality for matrix stencils and blocked solvers.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86384" y="5495544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31520" y="5440680"/>
            <a:ext cx="10698480" cy="731520"/>
          </a:xfrm>
          <a:prstGeom prst="roundRect">
            <a:avLst>
              <a:gd name="adj" fmla="val 15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Audit Discovery: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Optimizing memory locality while ignoring queue backlog and interconnect contention is mathematically self-defeating on irregular task graphs.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Auditing Muddukrishna et al. (2015) · Hotspots H1–H10 Taxonomy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/ 06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34975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34975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 &amp; BENCHMARKS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Paradox: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438912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When Locality Slows Down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NUMA runs on 8-node Opteron + 56 configurations on 64-tile TILEPro64 mesh simulator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48640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AMD Opteron Reproduction (100 Runs, 100% Verification)</a:t>
            </a:r>
            <a:endParaRPr lang="en-US" sz="1150" dirty="0"/>
          </a:p>
        </p:txBody>
      </p:sp>
      <p:pic>
        <p:nvPicPr>
          <p:cNvPr id="13" name="Image 0" descr="/Users/yeschirag/Desktop/college/HPC project/results/numa/fig7_reproduc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240280"/>
            <a:ext cx="5120640" cy="246888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14400" y="4800600"/>
            <a:ext cx="51206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Map: </a:t>
            </a:r>
            <a:pPr indent="0" marL="0">
              <a:buNone/>
            </a:pPr>
            <a:r>
              <a:rPr lang="en-US" sz="950" b="1" dirty="0">
                <a:solidFill>
                  <a:srgbClr val="0478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-45.1% Comm Cost (0.55×) · -19.0% Execution Cycles (0.81×)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Matmul: </a:t>
            </a:r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-22.5% Comm Cost (0.78×) · Runtime Parity (Balanced)
</a:t>
            </a:r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SparseLU: </a:t>
            </a:r>
            <a:pPr indent="0" marL="0">
              <a:buNone/>
            </a:pPr>
            <a:r>
              <a:rPr lang="en-US" sz="95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-26.7% Comm Cost BUT +15.1% SLOWER Execution! (The Paradox)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547104" y="1837944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92240" y="1783080"/>
            <a:ext cx="4937760" cy="2286000"/>
          </a:xfrm>
          <a:prstGeom prst="roundRect">
            <a:avLst>
              <a:gd name="adj" fmla="val 5600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0" y="19202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SparseLU Pathology Explained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675120" y="2240280"/>
            <a:ext cx="457200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Why locality dealing caused a +15.1% slowdown: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Irregular Task DAG: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have skewed input dependencies.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Load-Blind Placement: 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sent all critical tasks to Node 0.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Worker Starvation: </a:t>
            </a:r>
            <a:pPr indent="0" marL="0">
              <a:buNone/>
            </a:pPr>
            <a:r>
              <a:rPr lang="en-US" sz="900" b="1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0 had 20 tasks; Queues 1–7 were empty!
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Cost Penalty: </a:t>
            </a:r>
            <a:pPr indent="0" marL="0">
              <a:buNone/>
            </a:pPr>
            <a:r>
              <a:rPr lang="en-US" sz="9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worker cores sat completely idle. Comm win was wiped out by starvation cycles!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47104" y="4261104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92240" y="4206240"/>
            <a:ext cx="4937760" cy="2011680"/>
          </a:xfrm>
          <a:prstGeom prst="roundRect">
            <a:avLst>
              <a:gd name="adj" fmla="val 6364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75120" y="4343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TILEPro64 8×8 Mesh Simulation Findings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675120" y="466344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80.3% Communication Reduction: LA+Coarse drops comm cost from 6.67M down to 1.31M cycles on Map.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39.3% Execution Speedup: Simulated runtime drops from 281K down to 170K cycles.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Steal Elimination: Drops from 63 remote mesh steals in Work-Stealing down to ZERO steals under LA+Coarse!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Mesh Latency Accuracy: Verified against 10-cycle local L2 and 38+2·hop remote formulas across all 64 tiles.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Empirical Reproduction: AMD Opteron NUMA &amp; TILEPro64 Manycore Mesh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/ 06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368296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3682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SCHEDULER ARCHITECTURE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NOVA Solution: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21208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Adaptive Co-Scheduling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Four architectural pillars that eliminate the SparseLU bottleneck while preserving memory locality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EEF2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1: Load-Aware Work Dealing (N-A)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H3, H4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144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score(q) = α · comm_norm(D, q) + (1 - α) · occ_norm(q)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Blends data proximity with real-time queue backlog. Automatically diverts tasks to neighboring idle queues before congestion creates worker starvation.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72784" y="183794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17920" y="178308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1EB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187452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2: Task-Level Shadow Index (N-B)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75520" y="187452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875520" y="187452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400800" y="217627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0" y="217627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steal_target = argmax_{t ∈ Top-K} ( Affinity(thief_node, Footprint(t)) 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00800" y="257860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blind queue-tail popping with a lock-free Shadow Index. Idle thief inspects top k=8 tasks in victim queue and steals the task that has maximal affinity to thief RAM.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863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0FDF4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3: Adaptive Vicinity Radius (N-C)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3891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H1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9144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radius_{t+1} = clamp( radius_t + sign(rate_{EWMA} - target), 1, D_max 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9144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fixed hard-coded steal radius with per-worker EWMA feedback. Expands reach during starvation; contracts to local cluster when queues are well-balanced.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72784" y="3712464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17920" y="3657600"/>
            <a:ext cx="5212080" cy="1783080"/>
          </a:xfrm>
          <a:prstGeom prst="roundRect">
            <a:avLst>
              <a:gd name="adj" fmla="val 717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0" y="3749040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Pillar 4: Dynamic Migration &amp; Zero Locks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875520" y="3749040"/>
            <a:ext cx="1371600" cy="201168"/>
          </a:xfrm>
          <a:prstGeom prst="roundRect">
            <a:avLst>
              <a:gd name="adj" fmla="val 50000"/>
            </a:avLst>
          </a:prstGeom>
          <a:solidFill>
            <a:srgbClr val="FFE5D9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75520" y="3749040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Fixes H6, H8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00800" y="4050792"/>
            <a:ext cx="4846320" cy="347472"/>
          </a:xfrm>
          <a:prstGeom prst="roundRect">
            <a:avLst>
              <a:gd name="adj" fmla="val 21053"/>
            </a:avLst>
          </a:prstGeom>
          <a:solidFill>
            <a:srgbClr val="EEF2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00800" y="4050792"/>
            <a:ext cx="4846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Trigger Migration IF (Acc_Benefit &gt; C_mig ≈ 120 cycles)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400800" y="4453128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home-cache line re-homing toward executing tiles. Coordination telemetry uses double-buffered statistics swapped via atomic CAS every 64 ops — zero locks on the hot path!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86384" y="5586984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1520" y="5532120"/>
            <a:ext cx="10698480" cy="685800"/>
          </a:xfrm>
          <a:prstGeom prst="roundRect">
            <a:avLst>
              <a:gd name="adj" fmla="val 16000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14400" y="553212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NOVA Principle: </a:t>
            </a:r>
            <a:pPr indent="0" marL="0">
              <a:buNone/>
            </a:pPr>
            <a:r>
              <a:rPr lang="en-US" sz="1100" dirty="0">
                <a:solidFill>
                  <a:srgbClr val="1118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Maximize memory locality when queues are balanced; dynamically transition to load-balancing when queue backlog or interconnect contention threatens idle core stalls.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NOVA / ALLoC Scheduler Architecture · High-Performance Computing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/ 06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11480"/>
            <a:ext cx="1115568" cy="292608"/>
          </a:xfrm>
          <a:prstGeom prst="roundRect">
            <a:avLst>
              <a:gd name="adj" fmla="val 50000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11480"/>
            <a:ext cx="11155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984248" y="411480"/>
            <a:ext cx="245516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84248" y="411480"/>
            <a:ext cx="24551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&amp; DEFENSE READY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86868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Project Deliverables &amp;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035040" y="822960"/>
            <a:ext cx="5029200" cy="594360"/>
          </a:xfrm>
          <a:prstGeom prst="roundRect">
            <a:avLst>
              <a:gd name="adj" fmla="val 15385"/>
            </a:avLst>
          </a:prstGeom>
          <a:solidFill>
            <a:srgbClr val="FFD147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0" y="822960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Examiner Defense Q&amp;A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731520" y="1463040"/>
            <a:ext cx="9144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 dual-architecture reproduction, standalone manycore simulator, and NOVA scheduler specification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863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FFFFFF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82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Summary of Concrete Deliverables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2286000"/>
            <a:ext cx="2011680" cy="228600"/>
          </a:xfrm>
          <a:prstGeom prst="roundRect">
            <a:avLst>
              <a:gd name="adj" fmla="val 48000"/>
            </a:avLst>
          </a:prstGeom>
          <a:solidFill>
            <a:srgbClr val="DCFCE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2860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COMPLETE &amp; VERIFIED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AMD Opteron NUMA Baseline Reproduction: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100 benchmark runs across 5 kernels (Map, Matmul, Reduce, Jacobi, SparseLU); verified Figure 7 reproduction with check_ok=1.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Standalone TILEPro64 8×8 Mesh Simulator: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Built full C++/Python mesh simulator from scratch; modeled 10 vs 38+2·hop cycles; 11/11 unit tests passing.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Empirical Discovery of SparseLU Paradox: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Identified and proved the queue starvation pathology that causes locality dealing to run +15.1% slower than work-stealing.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10-Hotspot Audit Taxonomy (H1–H10):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Comprehensive taxonomy covering NUMA steal limits and TILEPro64 2D mesh bisection bottlenecks.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Full NOVA / ALLoC Scheduler Architecture: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Complete mathematical formulation, shadow index stealing algorithm, and lock-free double-buffered control plane.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Open-Source Codebase &amp; Git PR #3:</a:t>
            </a:r>
            <a:endParaRPr lang="en-US" sz="88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80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Fully documented and reproducible on branch feat/tilepro64-simulation-and-presentation.</a:t>
            </a:r>
            <a:endParaRPr lang="en-US" sz="880" dirty="0"/>
          </a:p>
        </p:txBody>
      </p:sp>
      <p:sp>
        <p:nvSpPr>
          <p:cNvPr id="16" name="Shape 14"/>
          <p:cNvSpPr/>
          <p:nvPr/>
        </p:nvSpPr>
        <p:spPr>
          <a:xfrm>
            <a:off x="6272784" y="1837944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1783080"/>
            <a:ext cx="5212080" cy="4434840"/>
          </a:xfrm>
          <a:prstGeom prst="roundRect">
            <a:avLst>
              <a:gd name="adj" fmla="val 3299"/>
            </a:avLst>
          </a:prstGeom>
          <a:solidFill>
            <a:srgbClr val="0F172A"/>
          </a:solidFill>
          <a:ln w="19050">
            <a:solidFill>
              <a:srgbClr val="1118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192024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D14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Anticipated Examiner Questions &amp; Answers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0" y="2286000"/>
            <a:ext cx="1828800" cy="228600"/>
          </a:xfrm>
          <a:prstGeom prst="roundRect">
            <a:avLst>
              <a:gd name="adj" fmla="val 48000"/>
            </a:avLst>
          </a:prstGeom>
          <a:solidFill>
            <a:srgbClr val="374151"/>
          </a:solidFill>
          <a:ln w="12700">
            <a:solidFill>
              <a:srgbClr val="FFD14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0" y="2286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1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EXAMINER DEFENSE READY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0" y="260604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Why simulate TILEPro64 instead of running on real hardware?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TILEPro64 is discontinued specialty hardware. A software model implementing the exact 8×8 mesh and 2D Manhattan latency matrix (10 cycles local, 38+2·hop remote) enables deterministic, cycle-accurate evaluation without hardware drift.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Why does work-stealing suffer 63 steals in Map while LA+Coarse has 0?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In work-stealing, Tile 0 creates all 64 tasks; the other 63 idle tiles must each steal remotely across the mesh. Under LA+Coarse, the dealer immediately routes each task to its home tile, eliminating steal overhead entirely.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How does NOVA avoid lock contention on the critical path?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Workers make dealing and stealing decisions locally in O(nodes) time without locks. Global queue snapshots and α tuning run in a double-buffer swapped via atomic pointer CAS every 64 ops — zero locks on the hot execution path.
</a:t>
            </a:r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What is the main takeaway for future HPC runtimes?
</a:t>
            </a:r>
            <a:pPr indent="0" marL="0">
              <a:buNone/>
            </a:pPr>
            <a:r>
              <a:rPr lang="en-US" sz="900" b="1" dirty="0">
                <a:solidFill>
                  <a:srgbClr val="FFD1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Ans: Memory locality and load balance cannot be optimized independently. Adaptive co-scheduling is strictly necessary for scalable speedup.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Locality-Aware Task Scheduling · Final Project Defense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058400" y="6355080"/>
            <a:ext cx="13990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4B55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/ 06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6</Slides>
	<Notes>6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6</vt:i4></vt:variant>
		</vt:vector>
	</HeadingPairs>
	<TitlesOfParts>
		<vt:vector size="9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
		</vt:vector>
	</TitlesOfParts>
	<Company>HPC & Runtime Systems Architecture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Locality-Aware Task Scheduling on Heterogeneous HPC Architectures</dc:title>
  <dc:subject>HPC Final Project Presentation</dc:subject>
  <dc:creator>PptxGenJS</dc:creator>
  <cp:lastModifiedBy>PptxGenJS</cp:lastModifiedBy>
  <cp:revision>1</cp:revision>
  <dcterms:created xsi:type="dcterms:W3CDTF">2026-10-08T18:25:44Z</dcterms:created>
  <dcterms:modified xsi:type="dcterms:W3CDTF">2026-10-08T18:25:44Z</dcterms:modified>
</cp:coreProperties>
</file>