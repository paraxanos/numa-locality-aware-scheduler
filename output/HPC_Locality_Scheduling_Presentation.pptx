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1664208" cy="292608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16642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HPC SYSTEMS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532888" y="411480"/>
            <a:ext cx="33238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532888" y="411480"/>
            <a:ext cx="33238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RESEARCH REPRODUCTION &amp; EXTENSION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868680"/>
            <a:ext cx="52120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Locality-Aware</a:t>
            </a:r>
            <a:endParaRPr lang="en-US" sz="38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Task Scheduling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731520" y="2066544"/>
            <a:ext cx="4754880" cy="566928"/>
          </a:xfrm>
          <a:prstGeom prst="roundRect">
            <a:avLst>
              <a:gd name="adj" fmla="val 16129"/>
            </a:avLst>
          </a:prstGeom>
          <a:solidFill>
            <a:srgbClr val="FFD147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066544"/>
            <a:ext cx="4572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on Heterogeneous HPC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731520" y="2724912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1118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72491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AMD Opteron 8-Node NUMA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651760" y="2724912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DCE4FF"/>
          </a:solidFill>
          <a:ln w="15240">
            <a:solidFill>
              <a:srgbClr val="1118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51760" y="2724912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TILEPro64 8×8 Mesh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297680" y="2724912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FFE5D9"/>
          </a:solidFill>
          <a:ln w="15240">
            <a:solidFill>
              <a:srgbClr val="1118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2724912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NOVA Co-Scheduler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31520" y="3035808"/>
            <a:ext cx="521208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empirical reproduction of Muddukrishna et al. (Scientific Programming 2015), uncovering the SparseLU locality paradox (+15.1% slowdown), and delivering the NOVA co-scheduling runtime architecture for multi-socket servers and 2D mesh manycores.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31520" y="3931920"/>
            <a:ext cx="256032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5240">
            <a:solidFill>
              <a:srgbClr val="1118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005072"/>
            <a:ext cx="2377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 NUMA Runs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22960" y="4261104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100% verification of Fig. 7 across 5 benchmarks on 48 cores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429000" y="3931920"/>
            <a:ext cx="256032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5240">
            <a:solidFill>
              <a:srgbClr val="11182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20440" y="4005072"/>
            <a:ext cx="2377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64-Tile Mesh Simulator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520440" y="4261104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Cycle-accurate 2D Manhattan latency model (11/11 tests)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31520" y="4754880"/>
            <a:ext cx="256032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5240">
            <a:solidFill>
              <a:srgbClr val="11182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4828032"/>
            <a:ext cx="2377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91C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SparseLU Paradox Discovered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22960" y="5084064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+15.1% slowdown under naive locality dealing proven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429000" y="4754880"/>
            <a:ext cx="256032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5240">
            <a:solidFill>
              <a:srgbClr val="11182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520440" y="4828032"/>
            <a:ext cx="2377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4785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NOVA Co-Scheduler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520440" y="5084064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Adaptive co-scheduling combining affinity with queue balance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272784" y="923544"/>
            <a:ext cx="5212080" cy="4709160"/>
          </a:xfrm>
          <a:prstGeom prst="roundRect">
            <a:avLst>
              <a:gd name="adj" fmla="val 3495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17920" y="868680"/>
            <a:ext cx="5212080" cy="4709160"/>
          </a:xfrm>
          <a:prstGeom prst="roundRect">
            <a:avLst>
              <a:gd name="adj" fmla="val 3495"/>
            </a:avLst>
          </a:prstGeom>
          <a:solidFill>
            <a:srgbClr val="FFFF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46520" y="100584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Dual-Architecture Latency Cliffs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6446520" y="1280160"/>
            <a:ext cx="4754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Empirical memory hierarchies &amp; interconnect penalty profiles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446520" y="1536192"/>
            <a:ext cx="2286000" cy="2423160"/>
          </a:xfrm>
          <a:prstGeom prst="roundRect">
            <a:avLst>
              <a:gd name="adj" fmla="val 4800"/>
            </a:avLst>
          </a:prstGeom>
          <a:solidFill>
            <a:srgbClr val="EEF2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37960" y="1609344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AMD Opteron (NUMA)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537960" y="1810512"/>
            <a:ext cx="21031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Sockets · 48 Cores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537960" y="1993392"/>
            <a:ext cx="210312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83680" y="2011680"/>
            <a:ext cx="2011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 Node DRAM: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~40 cycles (1.0× baseline)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537960" y="2487168"/>
            <a:ext cx="2103120" cy="530352"/>
          </a:xfrm>
          <a:prstGeom prst="roundRect">
            <a:avLst>
              <a:gd name="adj" fmla="val 10345"/>
            </a:avLst>
          </a:prstGeom>
          <a:solidFill>
            <a:srgbClr val="FEE2E2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83680" y="2505456"/>
            <a:ext cx="20116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B9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Cross-Socket HT Link: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B9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240–340 cycles (6×–8.5× Cliff)</a:t>
            </a:r>
            <a:endParaRPr lang="en-US" sz="780" dirty="0"/>
          </a:p>
        </p:txBody>
      </p:sp>
      <p:sp>
        <p:nvSpPr>
          <p:cNvPr id="39" name="Text 37"/>
          <p:cNvSpPr/>
          <p:nvPr/>
        </p:nvSpPr>
        <p:spPr>
          <a:xfrm>
            <a:off x="6537960" y="3072384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37415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HyperTransport 3.0 (6.4 GT/s)</a:t>
            </a:r>
            <a:endParaRPr lang="en-US" sz="750" dirty="0"/>
          </a:p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37415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CC-NUMA cache coherence</a:t>
            </a:r>
            <a:endParaRPr lang="en-US" sz="750" dirty="0"/>
          </a:p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37415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3 hops max across sockets</a:t>
            </a:r>
            <a:endParaRPr lang="en-US" sz="750" dirty="0"/>
          </a:p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37415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Bus saturation on naive steals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8869680" y="1536192"/>
            <a:ext cx="2286000" cy="2423160"/>
          </a:xfrm>
          <a:prstGeom prst="roundRect">
            <a:avLst>
              <a:gd name="adj" fmla="val 4800"/>
            </a:avLst>
          </a:prstGeom>
          <a:solidFill>
            <a:srgbClr val="FFF1EB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961120" y="1609344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TILEPro64 (Mesh)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8961120" y="1810512"/>
            <a:ext cx="21031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8×8 Grid · 64 Cores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8961120" y="1993392"/>
            <a:ext cx="210312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006840" y="2011680"/>
            <a:ext cx="2011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 Tile L2 Bank: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cycles (1.0× baseline)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8961120" y="2487168"/>
            <a:ext cx="2103120" cy="530352"/>
          </a:xfrm>
          <a:prstGeom prst="roundRect">
            <a:avLst>
              <a:gd name="adj" fmla="val 10345"/>
            </a:avLst>
          </a:prstGeom>
          <a:solidFill>
            <a:srgbClr val="FEE2E2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006840" y="2505456"/>
            <a:ext cx="20116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B9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Remote Mesh Manhattan Hop: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B9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38 + 2·h cycles (Up to 66 cyc / 6.6×)</a:t>
            </a:r>
            <a:endParaRPr lang="en-US" sz="780" dirty="0"/>
          </a:p>
        </p:txBody>
      </p:sp>
      <p:sp>
        <p:nvSpPr>
          <p:cNvPr id="47" name="Text 45"/>
          <p:cNvSpPr/>
          <p:nvPr/>
        </p:nvSpPr>
        <p:spPr>
          <a:xfrm>
            <a:off x="8961120" y="3072384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37415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2D dynamic packet NoC</a:t>
            </a:r>
            <a:endParaRPr lang="en-US" sz="750" dirty="0"/>
          </a:p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37415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3 networks (UDI, IDN, MDN)</a:t>
            </a:r>
            <a:endParaRPr lang="en-US" sz="750" dirty="0"/>
          </a:p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37415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Distributed shared L2 homing</a:t>
            </a:r>
            <a:endParaRPr lang="en-US" sz="750" dirty="0"/>
          </a:p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37415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Center bisection contention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6446520" y="4069080"/>
            <a:ext cx="4709160" cy="1417320"/>
          </a:xfrm>
          <a:prstGeom prst="roundRect">
            <a:avLst>
              <a:gd name="adj" fmla="val 6452"/>
            </a:avLst>
          </a:prstGeom>
          <a:solidFill>
            <a:srgbClr val="0F172A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537960" y="4114800"/>
            <a:ext cx="45262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Locality vs Load Balance Fundamental Conflict:
</a:t>
            </a:r>
            <a:pPr indent="0" marL="0">
              <a:buNone/>
            </a:pPr>
            <a:r>
              <a:rPr lang="en-US" sz="850" b="1" dirty="0">
                <a:solidFill>
                  <a:srgbClr val="FFD1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cost(Task, Target) = Σ (Footprint[i] / LineSize) × Latency(Target, i)
</a:t>
            </a:r>
            <a:pPr indent="0" marL="0">
              <a:buNone/>
            </a:pPr>
            <a:r>
              <a:rPr lang="en-US" sz="8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Pure Locality Dealing: Cuts comm stalls by up to 80% (Map: 6.67M -&gt; 1.31M cyc)
</a:t>
            </a:r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Naive Work-Stealing:   Wipes out cache affinity with 4x-6x bus penalty
</a:t>
            </a:r>
            <a:pPr indent="0" marL="0">
              <a:buNone/>
            </a:pPr>
            <a:r>
              <a:rPr lang="en-US" sz="80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The SparseLU Paradox:  Dealing ignores backlog -&gt; 23 idle cores (+15.1% loss!)
</a:t>
            </a:r>
            <a:pPr indent="0" marL="0">
              <a:buNone/>
            </a:pPr>
            <a:r>
              <a:rPr lang="en-US" sz="8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The NOVA Solution:     Dynamic co-scheduling balances locality with queue backlog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777240" y="5760720"/>
            <a:ext cx="10744200" cy="502920"/>
          </a:xfrm>
          <a:prstGeom prst="roundRect">
            <a:avLst>
              <a:gd name="adj" fmla="val 18182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31520" y="5715000"/>
            <a:ext cx="10744200" cy="502920"/>
          </a:xfrm>
          <a:prstGeom prst="roundRect">
            <a:avLst>
              <a:gd name="adj" fmla="val 18182"/>
            </a:avLst>
          </a:prstGeom>
          <a:solidFill>
            <a:srgbClr val="FFD147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14400" y="571500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Executive Summary: </a:t>
            </a:r>
            <a:pPr indent="0" marL="0">
              <a:buNone/>
            </a:pPr>
            <a:r>
              <a:rPr lang="en-US" sz="105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Pure locality scheduling cuts communication stalls by up to 80%, but causes severe core starvation on irregular graphs (+15.1% loss). NOVA resolves this trade-off.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731520" y="6355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Locality-Aware Task Scheduling on Heterogeneous HPC Architectures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10058400" y="6355080"/>
            <a:ext cx="13990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/ 06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1115568" cy="292608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11155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984248" y="411480"/>
            <a:ext cx="341071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84248" y="411480"/>
            <a:ext cx="34107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HARDWARE TOPOLOGY &amp; LATENCY MODELS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86868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Two Memory Models, 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669280" y="822960"/>
            <a:ext cx="4206240" cy="594360"/>
          </a:xfrm>
          <a:prstGeom prst="roundRect">
            <a:avLst>
              <a:gd name="adj" fmla="val 15385"/>
            </a:avLst>
          </a:prstGeom>
          <a:solidFill>
            <a:srgbClr val="FFD147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0" y="822960"/>
            <a:ext cx="4023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Two Latency Cliffs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731520" y="146304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Discrete socket memory hierarchies vs. distributed shared L2 cache on an 8×8 mesh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86384" y="1837944"/>
            <a:ext cx="5257800" cy="3886200"/>
          </a:xfrm>
          <a:prstGeom prst="roundRect">
            <a:avLst>
              <a:gd name="adj" fmla="val 3765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783080"/>
            <a:ext cx="5257800" cy="3886200"/>
          </a:xfrm>
          <a:prstGeom prst="roundRect">
            <a:avLst>
              <a:gd name="adj" fmla="val 3765"/>
            </a:avLst>
          </a:prstGeom>
          <a:solidFill>
            <a:srgbClr val="EEF2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1901952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AMD Opteron 8-Node NUMA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005840" y="2240280"/>
            <a:ext cx="256032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1118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240280"/>
            <a:ext cx="2560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Hierarchical HyperTransport Bus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05840" y="2560320"/>
            <a:ext cx="46634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9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Topology: 8 discrete sockets (3–6 cores/node, 24–48 cores total)</a:t>
            </a:r>
            <a:endParaRPr lang="en-US" sz="98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Memory: Dedicated physical DRAM channels per socket (discrete banks)</a:t>
            </a:r>
            <a:endParaRPr lang="en-US" sz="98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Local Access: ~40 CPU cycles (Node RAM via integrated memory controller)</a:t>
            </a:r>
            <a:endParaRPr lang="en-US" sz="98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Remote Access: 240 – 340 CPU cycles (Cross-socket HyperTransport bus)</a:t>
            </a:r>
            <a:endParaRPr lang="en-US" sz="98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Diameter: 3 hops maximum between opposing sockets</a:t>
            </a:r>
            <a:endParaRPr lang="en-US" sz="98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Distribution: First-touch page allocation (4 KB page granularity)</a:t>
            </a:r>
            <a:endParaRPr lang="en-US" sz="98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Pathology: Bus congestion under work-stealing drags 6×–8× stall penalty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1005840" y="4828032"/>
            <a:ext cx="47091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1118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846320"/>
            <a:ext cx="452628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Hardware Interconnect Spec: HyperTransport 3.0 (6.4 GT/s per link) · 6.0×–8.5× remote access penalty · Coherent CC-NUMA cache protocol · Hardware IMC on-die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272784" y="1837944"/>
            <a:ext cx="5257800" cy="3886200"/>
          </a:xfrm>
          <a:prstGeom prst="roundRect">
            <a:avLst>
              <a:gd name="adj" fmla="val 3765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17920" y="1783080"/>
            <a:ext cx="5257800" cy="3886200"/>
          </a:xfrm>
          <a:prstGeom prst="roundRect">
            <a:avLst>
              <a:gd name="adj" fmla="val 3765"/>
            </a:avLst>
          </a:prstGeom>
          <a:solidFill>
            <a:srgbClr val="FFF1EB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92240" y="1901952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TILEPro64 64-Tile Manycore Mesh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492240" y="2240280"/>
            <a:ext cx="256032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11182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2240280"/>
            <a:ext cx="2560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8×8 2D Dynamic Mesh Network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92240" y="2560320"/>
            <a:ext cx="46634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9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Topology: 8×8 2D grid network (1 VLIW core per tile, 64 cores total)</a:t>
            </a:r>
            <a:endParaRPr lang="en-US" sz="98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Memory: Distributed shared L2 cache (64 KB slice homed per tile = 4 MB total)</a:t>
            </a:r>
            <a:endParaRPr lang="en-US" sz="98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Local Access: 10 CPU cycles (Local tile L2 cache bank)</a:t>
            </a:r>
            <a:endParaRPr lang="en-US" sz="98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Remote Access: 38 cycles base + 2 cycles per Manhattan hop (|Δx| + |Δy|)</a:t>
            </a:r>
            <a:endParaRPr lang="en-US" sz="98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Diameter: 14 hops between corners ((7-0) + (7-0) = 14 hops = 66 cycles)</a:t>
            </a:r>
            <a:endParaRPr lang="en-US" sz="98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Distribution: Coarse (entire buffer in 1 tile) vs Fine (striped cache lines)</a:t>
            </a:r>
            <a:endParaRPr lang="en-US" sz="98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Pathology: Center bisection link contention; static home cache trapping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6492240" y="4828032"/>
            <a:ext cx="47091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11182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0" y="4846320"/>
            <a:ext cx="452628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Mesh Interconnect Spec: 3 separate dynamic networks (UDI, IDN, MDN) · 16 unidirectional 32-bit channels · XY Dimension-Order Routing · No central crossbar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777240" y="5806440"/>
            <a:ext cx="10744200" cy="502920"/>
          </a:xfrm>
          <a:prstGeom prst="roundRect">
            <a:avLst>
              <a:gd name="adj" fmla="val 18182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1520" y="5760720"/>
            <a:ext cx="10744200" cy="502920"/>
          </a:xfrm>
          <a:prstGeom prst="roundRect">
            <a:avLst>
              <a:gd name="adj" fmla="val 18182"/>
            </a:avLst>
          </a:prstGeom>
          <a:solidFill>
            <a:srgbClr val="FFD147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Architectural Lesson: </a:t>
            </a:r>
            <a:pPr indent="0" marL="0">
              <a:buNone/>
            </a:pPr>
            <a:r>
              <a:rPr lang="en-US" sz="105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NUMA, memory latency is tied to physical socket boundaries. In TILEPro64, it scales continuously with 2D geometric Manhattan distance. Uniform task schedulers fail catastrophically on both.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31520" y="6355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Locality-Aware Task Scheduling · Hardware Topology &amp; Latency Models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0058400" y="6355080"/>
            <a:ext cx="13990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 06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1115568" cy="292608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11155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984248" y="411480"/>
            <a:ext cx="245516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84248" y="411480"/>
            <a:ext cx="24551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RUNTIME PATHOLOGY AUDIT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86868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Naive Locality Fails: 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035040" y="822960"/>
            <a:ext cx="3566160" cy="594360"/>
          </a:xfrm>
          <a:prstGeom prst="roundRect">
            <a:avLst>
              <a:gd name="adj" fmla="val 15385"/>
            </a:avLst>
          </a:prstGeom>
          <a:solidFill>
            <a:srgbClr val="FFD147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26480" y="82296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10 Hotspots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731520" y="146304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Deep audit of Muddukrishna et al. (2015) revealing root causes of runtime regression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86384" y="1837944"/>
            <a:ext cx="3410712" cy="3886200"/>
          </a:xfrm>
          <a:prstGeom prst="roundRect">
            <a:avLst>
              <a:gd name="adj" fmla="val 3753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783080"/>
            <a:ext cx="3410712" cy="3886200"/>
          </a:xfrm>
          <a:prstGeom prst="roundRect">
            <a:avLst>
              <a:gd name="adj" fmla="val 3753"/>
            </a:avLst>
          </a:prstGeom>
          <a:solidFill>
            <a:srgbClr val="FFFF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1901952"/>
            <a:ext cx="3044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Stealing &amp; Placement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14400" y="2194560"/>
            <a:ext cx="1463040" cy="201168"/>
          </a:xfrm>
          <a:prstGeom prst="roundRect">
            <a:avLst>
              <a:gd name="adj" fmla="val 50000"/>
            </a:avLst>
          </a:prstGeom>
          <a:solidFill>
            <a:srgbClr val="DCE4FF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194560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Hotspots H1 – H4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914400" y="2468880"/>
            <a:ext cx="3044952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H1 (Static Steal Reach): Fixed vicinity size starves threads on Map or drags 6× remote stalls on Vecmul.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H2 (Queue-Level Stealing): Pops victim queue tail blindly; ignores whether another task in that queue has local data!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H3 (Load-Blind Placement): Dealer routes to argmin(comm_cost) without reading queue length; piles all work on 1 core.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H4 (Binary Threshold Cliffs): Brittle sum(D) &gt; LLC/C gates trigger heavy O(N²) path with no calibration.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14400" y="4828032"/>
            <a:ext cx="3044952" cy="731520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4846320"/>
            <a:ext cx="2953512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 Pathology: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Blind queue-tail popping &amp; zero queue length feedback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425696" y="1837944"/>
            <a:ext cx="3410712" cy="3886200"/>
          </a:xfrm>
          <a:prstGeom prst="roundRect">
            <a:avLst>
              <a:gd name="adj" fmla="val 3753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70832" y="1783080"/>
            <a:ext cx="3410712" cy="3886200"/>
          </a:xfrm>
          <a:prstGeom prst="roundRect">
            <a:avLst>
              <a:gd name="adj" fmla="val 3753"/>
            </a:avLst>
          </a:prstGeom>
          <a:solidFill>
            <a:srgbClr val="FFFF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99432" y="1901952"/>
            <a:ext cx="3044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Data Model &amp; Feedback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99432" y="2194560"/>
            <a:ext cx="1463040" cy="201168"/>
          </a:xfrm>
          <a:prstGeom prst="roundRect">
            <a:avLst>
              <a:gd name="adj" fmla="val 50000"/>
            </a:avLst>
          </a:prstGeom>
          <a:solidFill>
            <a:srgbClr val="FFE5D9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99432" y="2194560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Hotspots H5 – H7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599432" y="2468880"/>
            <a:ext cx="3044952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H5 (Fragile Footprints): Footprint vector D relies on OpenMP depend clauses. Incomplete clauses silently ruin placement.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H6 (No Feedback Loop): Data distribution is frozen at omp_malloc. Runtime never migrates hot mis-placed pages.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H7 (Coarse/Fine Menu Blind Spot): Rigid 2-item menu fails on irregular matrix blocks (SparseLU), causing severe regression.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H7b (All-Node Over-Allocation): Fallback spreads pages across all 8 sockets, amplifying cross-socket bus contention.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99432" y="4828032"/>
            <a:ext cx="3044952" cy="731520"/>
          </a:xfrm>
          <a:prstGeom prst="roundRect">
            <a:avLst>
              <a:gd name="adj" fmla="val 10000"/>
            </a:avLst>
          </a:prstGeom>
          <a:solidFill>
            <a:srgbClr val="FFF1EB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45152" y="4846320"/>
            <a:ext cx="2953512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 Pathology: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Frozen data distribution &amp; lack of dynamic re-homing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8065008" y="1837944"/>
            <a:ext cx="3410712" cy="3886200"/>
          </a:xfrm>
          <a:prstGeom prst="roundRect">
            <a:avLst>
              <a:gd name="adj" fmla="val 3753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10144" y="1783080"/>
            <a:ext cx="3410712" cy="3886200"/>
          </a:xfrm>
          <a:prstGeom prst="roundRect">
            <a:avLst>
              <a:gd name="adj" fmla="val 3753"/>
            </a:avLst>
          </a:prstGeom>
          <a:solidFill>
            <a:srgbClr val="EEF2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84464" y="1901952"/>
            <a:ext cx="3044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Mesh Bottlenecks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284464" y="2194560"/>
            <a:ext cx="146304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84464" y="2194560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Hotspots H8 – H10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84464" y="2468880"/>
            <a:ext cx="3044952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H8 (Static Home-Cache Trapping): Data is permanently locked to initial home cache; forces brutal locality vs balance conflict.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H9 (Center Bisection Contention): XY dimension-order routing concentrates traffic on center bisection links (tiles 3,3 to 4,4).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H10 (2D Coarse/Fine Mismatch): 1D line striping destroys 2D spatial locality for matrix stencils and blocked solvers.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H10b (14-Hop Corner Drag): Remote diagonal tile steals incur up to 66 CPU cycles, stalling VLIW execution pipelines.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284464" y="4828032"/>
            <a:ext cx="3044952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30184" y="4846320"/>
            <a:ext cx="2953512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 Pathology: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Center bisection link saturation &amp; 1D striping mismatch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777240" y="5806440"/>
            <a:ext cx="10744200" cy="502920"/>
          </a:xfrm>
          <a:prstGeom prst="roundRect">
            <a:avLst>
              <a:gd name="adj" fmla="val 18182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31520" y="5760720"/>
            <a:ext cx="10744200" cy="502920"/>
          </a:xfrm>
          <a:prstGeom prst="roundRect">
            <a:avLst>
              <a:gd name="adj" fmla="val 18182"/>
            </a:avLst>
          </a:prstGeom>
          <a:solidFill>
            <a:srgbClr val="FFD147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Audit Discovery: </a:t>
            </a:r>
            <a:pPr indent="0" marL="0">
              <a:buNone/>
            </a:pPr>
            <a:r>
              <a:rPr lang="en-US" sz="105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Optimizing memory locality while ignoring queue backlog and interconnect contention is mathematically self-defeating on irregular task graphs.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31520" y="6355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Auditing Muddukrishna et al. (2015) · Hotspots H1–H10 Taxonomy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10058400" y="6355080"/>
            <a:ext cx="13990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 06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1115568" cy="292608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11155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984248" y="411480"/>
            <a:ext cx="367131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84248" y="411480"/>
            <a:ext cx="36713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EMPIRICAL REPRODUCTION: NUMA HARDWARE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86868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SparseLU Paradox: 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035040" y="822960"/>
            <a:ext cx="4389120" cy="594360"/>
          </a:xfrm>
          <a:prstGeom prst="roundRect">
            <a:avLst>
              <a:gd name="adj" fmla="val 15385"/>
            </a:avLst>
          </a:prstGeom>
          <a:solidFill>
            <a:srgbClr val="FFD147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26480" y="82296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When Locality Slows Down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31520" y="146304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 benchmark runs on 8-node AMD Opteron server (24–48 cores) · 100% verified Figure 7 reproduction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86384" y="1837944"/>
            <a:ext cx="5257800" cy="3886200"/>
          </a:xfrm>
          <a:prstGeom prst="roundRect">
            <a:avLst>
              <a:gd name="adj" fmla="val 3294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783080"/>
            <a:ext cx="5257800" cy="3886200"/>
          </a:xfrm>
          <a:prstGeom prst="roundRect">
            <a:avLst>
              <a:gd name="adj" fmla="val 3294"/>
            </a:avLst>
          </a:prstGeom>
          <a:solidFill>
            <a:srgbClr val="FFFF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1901952"/>
            <a:ext cx="4892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AMD Opteron Reproduction (100 Runs, 100% Verification)</a:t>
            </a:r>
            <a:endParaRPr lang="en-US" sz="1300" dirty="0"/>
          </a:p>
        </p:txBody>
      </p:sp>
      <p:pic>
        <p:nvPicPr>
          <p:cNvPr id="13" name="Image 0" descr="/Users/yeschirag/Desktop/college/HPC project/results/numa/fig7_reproduc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94560"/>
            <a:ext cx="4892040" cy="2048256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14400" y="4334256"/>
            <a:ext cx="2377440" cy="585216"/>
          </a:xfrm>
          <a:prstGeom prst="roundRect">
            <a:avLst>
              <a:gd name="adj" fmla="val 12500"/>
            </a:avLst>
          </a:prstGeom>
          <a:solidFill>
            <a:srgbClr val="DCFCE7"/>
          </a:solidFill>
          <a:ln w="15240">
            <a:solidFill>
              <a:srgbClr val="11182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7552" y="4334256"/>
            <a:ext cx="223113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065F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Map: −45.1% Comm · −19.0% Cycles (0.81×)</a:t>
            </a:r>
            <a:endParaRPr lang="en-US" sz="880" dirty="0"/>
          </a:p>
        </p:txBody>
      </p:sp>
      <p:sp>
        <p:nvSpPr>
          <p:cNvPr id="16" name="Shape 13"/>
          <p:cNvSpPr/>
          <p:nvPr/>
        </p:nvSpPr>
        <p:spPr>
          <a:xfrm>
            <a:off x="3429000" y="4334256"/>
            <a:ext cx="2377440" cy="585216"/>
          </a:xfrm>
          <a:prstGeom prst="roundRect">
            <a:avLst>
              <a:gd name="adj" fmla="val 12500"/>
            </a:avLst>
          </a:prstGeom>
          <a:solidFill>
            <a:srgbClr val="EEF2FF"/>
          </a:solidFill>
          <a:ln w="15240">
            <a:solidFill>
              <a:srgbClr val="11182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502152" y="4334256"/>
            <a:ext cx="223113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E40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Matmul: −22.5% Comm · Balanced Parity</a:t>
            </a:r>
            <a:endParaRPr lang="en-US" sz="880" dirty="0"/>
          </a:p>
        </p:txBody>
      </p:sp>
      <p:sp>
        <p:nvSpPr>
          <p:cNvPr id="18" name="Shape 15"/>
          <p:cNvSpPr/>
          <p:nvPr/>
        </p:nvSpPr>
        <p:spPr>
          <a:xfrm>
            <a:off x="914400" y="4974336"/>
            <a:ext cx="2377440" cy="585216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240">
            <a:solidFill>
              <a:srgbClr val="11182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7552" y="4974336"/>
            <a:ext cx="223113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Reduce &amp; Jacobi: Predictable Scaling</a:t>
            </a:r>
            <a:endParaRPr lang="en-US" sz="880" dirty="0"/>
          </a:p>
        </p:txBody>
      </p:sp>
      <p:sp>
        <p:nvSpPr>
          <p:cNvPr id="20" name="Shape 17"/>
          <p:cNvSpPr/>
          <p:nvPr/>
        </p:nvSpPr>
        <p:spPr>
          <a:xfrm>
            <a:off x="3429000" y="4974336"/>
            <a:ext cx="2377440" cy="585216"/>
          </a:xfrm>
          <a:prstGeom prst="roundRect">
            <a:avLst>
              <a:gd name="adj" fmla="val 12500"/>
            </a:avLst>
          </a:prstGeom>
          <a:solidFill>
            <a:srgbClr val="FEE2E2"/>
          </a:solidFill>
          <a:ln w="15240">
            <a:solidFill>
              <a:srgbClr val="11182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502152" y="4974336"/>
            <a:ext cx="223113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B9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SparseLU: −26.7% Comm BUT +15.1% SLOWER!</a:t>
            </a:r>
            <a:endParaRPr lang="en-US" sz="880" dirty="0"/>
          </a:p>
        </p:txBody>
      </p:sp>
      <p:sp>
        <p:nvSpPr>
          <p:cNvPr id="22" name="Shape 19"/>
          <p:cNvSpPr/>
          <p:nvPr/>
        </p:nvSpPr>
        <p:spPr>
          <a:xfrm>
            <a:off x="6272784" y="1837944"/>
            <a:ext cx="5257800" cy="3886200"/>
          </a:xfrm>
          <a:prstGeom prst="roundRect">
            <a:avLst>
              <a:gd name="adj" fmla="val 3294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217920" y="1783080"/>
            <a:ext cx="5257800" cy="3886200"/>
          </a:xfrm>
          <a:prstGeom prst="roundRect">
            <a:avLst>
              <a:gd name="adj" fmla="val 3294"/>
            </a:avLst>
          </a:prstGeom>
          <a:solidFill>
            <a:srgbClr val="0F172A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0" y="1901952"/>
            <a:ext cx="4892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D1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SparseLU Pathology Dissected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6400800" y="2157984"/>
            <a:ext cx="4892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Why locality dealing caused a +15.1% execution slowdown: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6400800" y="2359152"/>
            <a:ext cx="4892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Irregular Task DAG: </a:t>
            </a:r>
            <a:pPr indent="0" marL="0">
              <a:buNone/>
            </a:pPr>
            <a:r>
              <a:rPr lang="en-US" sz="88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Tasks have skewed, asymmetric input dependencies across matrix sub-blocks.</a:t>
            </a:r>
            <a:endParaRPr lang="en-US" sz="920" dirty="0"/>
          </a:p>
        </p:txBody>
      </p:sp>
      <p:sp>
        <p:nvSpPr>
          <p:cNvPr id="27" name="Text 24"/>
          <p:cNvSpPr/>
          <p:nvPr/>
        </p:nvSpPr>
        <p:spPr>
          <a:xfrm>
            <a:off x="6400800" y="2834640"/>
            <a:ext cx="4892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Load-Blind Dealing: </a:t>
            </a:r>
            <a:pPr indent="0" marL="0">
              <a:buNone/>
            </a:pPr>
            <a:r>
              <a:rPr lang="en-US" sz="88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Dealer sent ALL critical-path tasks to Node 0 because Node 0 had initial pivot blocks.</a:t>
            </a:r>
            <a:endParaRPr lang="en-US" sz="920" dirty="0"/>
          </a:p>
        </p:txBody>
      </p:sp>
      <p:sp>
        <p:nvSpPr>
          <p:cNvPr id="28" name="Text 25"/>
          <p:cNvSpPr/>
          <p:nvPr/>
        </p:nvSpPr>
        <p:spPr>
          <a:xfrm>
            <a:off x="6400800" y="3310128"/>
            <a:ext cx="4892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Worker Starvation: </a:t>
            </a:r>
            <a:pPr indent="0" marL="0">
              <a:buNone/>
            </a:pPr>
            <a:r>
              <a:rPr lang="en-US" sz="880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Queue 0 had 20 tasks; Queues 1–7 were completely empty (0 tasks)!</a:t>
            </a:r>
            <a:endParaRPr lang="en-US" sz="920" dirty="0"/>
          </a:p>
        </p:txBody>
      </p:sp>
      <p:sp>
        <p:nvSpPr>
          <p:cNvPr id="29" name="Text 26"/>
          <p:cNvSpPr/>
          <p:nvPr/>
        </p:nvSpPr>
        <p:spPr>
          <a:xfrm>
            <a:off x="6400800" y="3785616"/>
            <a:ext cx="4892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Starvation Wipes Comm Win: </a:t>
            </a:r>
            <a:pPr indent="0" marL="0">
              <a:buNone/>
            </a:pPr>
            <a:r>
              <a:rPr lang="en-US" sz="880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worker cores sat idle. Comm savings were completely wiped out by starvation cycles!</a:t>
            </a:r>
            <a:endParaRPr lang="en-US" sz="920" dirty="0"/>
          </a:p>
        </p:txBody>
      </p:sp>
      <p:sp>
        <p:nvSpPr>
          <p:cNvPr id="30" name="Shape 27"/>
          <p:cNvSpPr/>
          <p:nvPr/>
        </p:nvSpPr>
        <p:spPr>
          <a:xfrm>
            <a:off x="6400800" y="4334256"/>
            <a:ext cx="4892040" cy="1225296"/>
          </a:xfrm>
          <a:prstGeom prst="roundRect">
            <a:avLst>
              <a:gd name="adj" fmla="val 5970"/>
            </a:avLst>
          </a:prstGeom>
          <a:solidFill>
            <a:srgbClr val="020617"/>
          </a:solidFill>
          <a:ln w="15240">
            <a:solidFill>
              <a:srgbClr val="334155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492240" y="4370832"/>
            <a:ext cx="4709160" cy="1152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Live Queue Backlog Snapshot during SparseLU:
</a:t>
            </a:r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0 Queue: [████████████████████] 20 Tasks (100% Critical Path)
</a:t>
            </a:r>
            <a:pPr indent="0" marL="0">
              <a:buNone/>
            </a:pPr>
            <a:r>
              <a:rPr lang="en-US" sz="85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Nodes 1-7:    [                    ]  0 Tasks (23 Cores Starving)
</a:t>
            </a:r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 Savings: -26.7% (-1.2M cyc)  |  Idle Loss: +41.8% (+2.4M cyc)
</a:t>
            </a:r>
            <a:pPr indent="0" marL="0">
              <a:buNone/>
            </a:pPr>
            <a:r>
              <a:rPr lang="en-US" sz="850" b="1" dirty="0">
                <a:solidFill>
                  <a:srgbClr val="FFD1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 Impact: Locality Win &lt; Starvation Loss -&gt; +15.1% SLOWDOWN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77240" y="5806440"/>
            <a:ext cx="10744200" cy="502920"/>
          </a:xfrm>
          <a:prstGeom prst="roundRect">
            <a:avLst>
              <a:gd name="adj" fmla="val 18182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31520" y="5760720"/>
            <a:ext cx="10744200" cy="502920"/>
          </a:xfrm>
          <a:prstGeom prst="roundRect">
            <a:avLst>
              <a:gd name="adj" fmla="val 18182"/>
            </a:avLst>
          </a:prstGeom>
          <a:solidFill>
            <a:srgbClr val="FFD147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144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NUMA TAKEAWAY: </a:t>
            </a:r>
            <a:pPr indent="0" marL="0">
              <a:buNone/>
            </a:pPr>
            <a:r>
              <a:rPr lang="en-US" sz="105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locality and core load balance cannot be optimized independently. On irregular DAGs, load balance strictly dominates memory locality.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731520" y="6355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Empirical Reproduction: AMD Opteron NUMA &amp; The SparseLU Paradox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10058400" y="6355080"/>
            <a:ext cx="13990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 06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1115568" cy="292608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11155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984248" y="411480"/>
            <a:ext cx="323697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84248" y="411480"/>
            <a:ext cx="32369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MANYCORE SIMULATION: 8×8 2D MESH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86868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TILEPro64 8×8 Mesh: 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035040" y="822960"/>
            <a:ext cx="4572000" cy="594360"/>
          </a:xfrm>
          <a:prstGeom prst="roundRect">
            <a:avLst>
              <a:gd name="adj" fmla="val 15385"/>
            </a:avLst>
          </a:prstGeom>
          <a:solidFill>
            <a:srgbClr val="FFD147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26480" y="822960"/>
            <a:ext cx="4389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Locality Across 64 Tiles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31520" y="146304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56 simulation configurations across 64 cores · 10 vs 38+2·hop cycle-accurate 2D mesh model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86384" y="1837944"/>
            <a:ext cx="5257800" cy="3886200"/>
          </a:xfrm>
          <a:prstGeom prst="roundRect">
            <a:avLst>
              <a:gd name="adj" fmla="val 3294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783080"/>
            <a:ext cx="5257800" cy="3886200"/>
          </a:xfrm>
          <a:prstGeom prst="roundRect">
            <a:avLst>
              <a:gd name="adj" fmla="val 3294"/>
            </a:avLst>
          </a:prstGeom>
          <a:solidFill>
            <a:srgbClr val="FFFF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1901952"/>
            <a:ext cx="4892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TILEPro64 8×8 Mesh Simulation (64 Cores)</a:t>
            </a:r>
            <a:endParaRPr lang="en-US" sz="1300" dirty="0"/>
          </a:p>
        </p:txBody>
      </p:sp>
      <p:pic>
        <p:nvPicPr>
          <p:cNvPr id="13" name="Image 0" descr="/Users/yeschirag/Desktop/college/HPC project/tilepro64/results/tilepro64_resul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94560"/>
            <a:ext cx="4892040" cy="210312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14400" y="4334256"/>
            <a:ext cx="2377440" cy="585216"/>
          </a:xfrm>
          <a:prstGeom prst="roundRect">
            <a:avLst>
              <a:gd name="adj" fmla="val 12500"/>
            </a:avLst>
          </a:prstGeom>
          <a:solidFill>
            <a:srgbClr val="DCFCE7"/>
          </a:solidFill>
          <a:ln w="15240">
            <a:solidFill>
              <a:srgbClr val="11182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7552" y="4334256"/>
            <a:ext cx="223113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065F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 Comm Drop: −80.3% (6.67M → 1.31M cyc)</a:t>
            </a:r>
            <a:endParaRPr lang="en-US" sz="880" dirty="0"/>
          </a:p>
        </p:txBody>
      </p:sp>
      <p:sp>
        <p:nvSpPr>
          <p:cNvPr id="16" name="Shape 13"/>
          <p:cNvSpPr/>
          <p:nvPr/>
        </p:nvSpPr>
        <p:spPr>
          <a:xfrm>
            <a:off x="3429000" y="4334256"/>
            <a:ext cx="2377440" cy="585216"/>
          </a:xfrm>
          <a:prstGeom prst="roundRect">
            <a:avLst>
              <a:gd name="adj" fmla="val 12500"/>
            </a:avLst>
          </a:prstGeom>
          <a:solidFill>
            <a:srgbClr val="DCFCE7"/>
          </a:solidFill>
          <a:ln w="15240">
            <a:solidFill>
              <a:srgbClr val="11182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502152" y="4334256"/>
            <a:ext cx="223113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065F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 Speedup: 39.3% (281K → 170K cyc)</a:t>
            </a:r>
            <a:endParaRPr lang="en-US" sz="880" dirty="0"/>
          </a:p>
        </p:txBody>
      </p:sp>
      <p:sp>
        <p:nvSpPr>
          <p:cNvPr id="18" name="Shape 15"/>
          <p:cNvSpPr/>
          <p:nvPr/>
        </p:nvSpPr>
        <p:spPr>
          <a:xfrm>
            <a:off x="914400" y="4974336"/>
            <a:ext cx="2377440" cy="585216"/>
          </a:xfrm>
          <a:prstGeom prst="roundRect">
            <a:avLst>
              <a:gd name="adj" fmla="val 12500"/>
            </a:avLst>
          </a:prstGeom>
          <a:solidFill>
            <a:srgbClr val="FEF08A"/>
          </a:solidFill>
          <a:ln w="15240">
            <a:solidFill>
              <a:srgbClr val="11182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7552" y="4974336"/>
            <a:ext cx="223113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854D0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Steal Elimination: 0 Steals (vs 63 in WS)</a:t>
            </a:r>
            <a:endParaRPr lang="en-US" sz="880" dirty="0"/>
          </a:p>
        </p:txBody>
      </p:sp>
      <p:sp>
        <p:nvSpPr>
          <p:cNvPr id="20" name="Shape 17"/>
          <p:cNvSpPr/>
          <p:nvPr/>
        </p:nvSpPr>
        <p:spPr>
          <a:xfrm>
            <a:off x="3429000" y="4974336"/>
            <a:ext cx="2377440" cy="585216"/>
          </a:xfrm>
          <a:prstGeom prst="roundRect">
            <a:avLst>
              <a:gd name="adj" fmla="val 12500"/>
            </a:avLst>
          </a:prstGeom>
          <a:solidFill>
            <a:srgbClr val="EEF2FF"/>
          </a:solidFill>
          <a:ln w="15240">
            <a:solidFill>
              <a:srgbClr val="11182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502152" y="4974336"/>
            <a:ext cx="223113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E40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Vecmul: Fine memory avoids link bottlenecks</a:t>
            </a:r>
            <a:endParaRPr lang="en-US" sz="880" dirty="0"/>
          </a:p>
        </p:txBody>
      </p:sp>
      <p:sp>
        <p:nvSpPr>
          <p:cNvPr id="22" name="Shape 19"/>
          <p:cNvSpPr/>
          <p:nvPr/>
        </p:nvSpPr>
        <p:spPr>
          <a:xfrm>
            <a:off x="6272784" y="1837944"/>
            <a:ext cx="5257800" cy="3886200"/>
          </a:xfrm>
          <a:prstGeom prst="roundRect">
            <a:avLst>
              <a:gd name="adj" fmla="val 3294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217920" y="1783080"/>
            <a:ext cx="5257800" cy="3886200"/>
          </a:xfrm>
          <a:prstGeom prst="roundRect">
            <a:avLst>
              <a:gd name="adj" fmla="val 3294"/>
            </a:avLst>
          </a:prstGeom>
          <a:solidFill>
            <a:srgbClr val="FFF1EB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0" y="1901952"/>
            <a:ext cx="4892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2D Mesh Locality Dynamics (64 Cores)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6400800" y="2157984"/>
            <a:ext cx="4892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Hop-distance routing, bisection limits, and data distribution: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6400800" y="2359152"/>
            <a:ext cx="4892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Cycle-Accurate Latency: </a:t>
            </a:r>
            <a:pPr indent="0" marL="0">
              <a:buNone/>
            </a:pPr>
            <a:r>
              <a:rPr lang="en-US" sz="8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cycles local L2 bank vs 38+2·hop remote formula across all 64 tiles.</a:t>
            </a:r>
            <a:endParaRPr lang="en-US" sz="920" dirty="0"/>
          </a:p>
        </p:txBody>
      </p:sp>
      <p:sp>
        <p:nvSpPr>
          <p:cNvPr id="27" name="Text 24"/>
          <p:cNvSpPr/>
          <p:nvPr/>
        </p:nvSpPr>
        <p:spPr>
          <a:xfrm>
            <a:off x="6400800" y="2834640"/>
            <a:ext cx="4892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Network Diameter Limits: </a:t>
            </a:r>
            <a:pPr indent="0" marL="0">
              <a:buNone/>
            </a:pPr>
            <a:r>
              <a:rPr lang="en-US" sz="8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hops between corners ((7-0)+(7-0)) = 66 cycles max latency.</a:t>
            </a:r>
            <a:endParaRPr lang="en-US" sz="920" dirty="0"/>
          </a:p>
        </p:txBody>
      </p:sp>
      <p:sp>
        <p:nvSpPr>
          <p:cNvPr id="28" name="Text 25"/>
          <p:cNvSpPr/>
          <p:nvPr/>
        </p:nvSpPr>
        <p:spPr>
          <a:xfrm>
            <a:off x="6400800" y="3310128"/>
            <a:ext cx="4892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Coarse Buffer Homing: </a:t>
            </a:r>
            <a:pPr indent="0" marL="0">
              <a:buNone/>
            </a:pPr>
            <a:r>
              <a:rPr lang="en-US" sz="8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Array homed on Tile 0 yields 0 steals on Map, but chokes bisection on stencils.</a:t>
            </a:r>
            <a:endParaRPr lang="en-US" sz="920" dirty="0"/>
          </a:p>
        </p:txBody>
      </p:sp>
      <p:sp>
        <p:nvSpPr>
          <p:cNvPr id="29" name="Text 26"/>
          <p:cNvSpPr/>
          <p:nvPr/>
        </p:nvSpPr>
        <p:spPr>
          <a:xfrm>
            <a:off x="6400800" y="3785616"/>
            <a:ext cx="4892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Fine Cache Striping: </a:t>
            </a:r>
            <a:pPr indent="0" marL="0">
              <a:buNone/>
            </a:pPr>
            <a:r>
              <a:rPr lang="en-US" sz="8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Striping lines avoids hot spots but raises base access latency to ~52 cycles.</a:t>
            </a:r>
            <a:endParaRPr lang="en-US" sz="920" dirty="0"/>
          </a:p>
        </p:txBody>
      </p:sp>
      <p:sp>
        <p:nvSpPr>
          <p:cNvPr id="30" name="Shape 27"/>
          <p:cNvSpPr/>
          <p:nvPr/>
        </p:nvSpPr>
        <p:spPr>
          <a:xfrm>
            <a:off x="6400800" y="4334256"/>
            <a:ext cx="4892040" cy="1225296"/>
          </a:xfrm>
          <a:prstGeom prst="roundRect">
            <a:avLst>
              <a:gd name="adj" fmla="val 5970"/>
            </a:avLst>
          </a:prstGeom>
          <a:solidFill>
            <a:srgbClr val="0F172A"/>
          </a:solidFill>
          <a:ln w="15240">
            <a:solidFill>
              <a:srgbClr val="111827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492240" y="4370832"/>
            <a:ext cx="4709160" cy="1152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Work-Stealing vs Locality-Aware Dealing on 64 Tiles:
</a:t>
            </a:r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Work-Stealing: [██████████████████████████████] 63 Remote Steals (Avg 7.2 hops)
</a:t>
            </a:r>
            <a:pPr indent="0" marL="0">
              <a:buNone/>
            </a:pPr>
            <a:r>
              <a:rPr lang="en-US" sz="850" b="1" dirty="0">
                <a:solidFill>
                  <a:srgbClr val="FFD1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+ Coarse:   [                               ]  0 Steals (100% Local Execution!)
</a:t>
            </a:r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Interconnect Traffic: -80.3% mesh packet transmissions across grid
</a:t>
            </a:r>
            <a:pPr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Unit Test Harness:    11/11 tests passed in test_tilepro64.cpp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77240" y="5806440"/>
            <a:ext cx="10744200" cy="502920"/>
          </a:xfrm>
          <a:prstGeom prst="roundRect">
            <a:avLst>
              <a:gd name="adj" fmla="val 18182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31520" y="5760720"/>
            <a:ext cx="10744200" cy="502920"/>
          </a:xfrm>
          <a:prstGeom prst="roundRect">
            <a:avLst>
              <a:gd name="adj" fmla="val 18182"/>
            </a:avLst>
          </a:prstGeom>
          <a:solidFill>
            <a:srgbClr val="FFD147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144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TILEPRO64 TAKEAWAY: </a:t>
            </a:r>
            <a:pPr indent="0" marL="0">
              <a:buNone/>
            </a:pPr>
            <a:r>
              <a:rPr lang="en-US" sz="105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2D mesh architectures, locality-aware task dealing completely eliminates remote work-stealing overhead and drops interconnect communication cycles by 80.3%.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731520" y="6355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Manycore Simulation: TILEPro64 8×8 Mesh Architecture &amp; Results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10058400" y="6355080"/>
            <a:ext cx="13990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 06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1115568" cy="292608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11155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984248" y="411480"/>
            <a:ext cx="323697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84248" y="411480"/>
            <a:ext cx="32369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SCHEDULER ARCHITECTURE &amp; DEFENSE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86868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NOVA Solution: 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212080" y="822960"/>
            <a:ext cx="5029200" cy="594360"/>
          </a:xfrm>
          <a:prstGeom prst="roundRect">
            <a:avLst>
              <a:gd name="adj" fmla="val 15385"/>
            </a:avLst>
          </a:prstGeom>
          <a:solidFill>
            <a:srgbClr val="FFD147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0" y="82296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Adaptive Co-Scheduling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731520" y="146304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Four architectural pillars that eliminate the SparseLU bottleneck while preserving memory locality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86384" y="1837944"/>
            <a:ext cx="5257800" cy="1874520"/>
          </a:xfrm>
          <a:prstGeom prst="roundRect">
            <a:avLst>
              <a:gd name="adj" fmla="val 6829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783080"/>
            <a:ext cx="5257800" cy="1874520"/>
          </a:xfrm>
          <a:prstGeom prst="roundRect">
            <a:avLst>
              <a:gd name="adj" fmla="val 6829"/>
            </a:avLst>
          </a:prstGeom>
          <a:solidFill>
            <a:srgbClr val="EEF2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187452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Pillar 1: Load-Aware Work Dealing (N-A)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89120" y="1874520"/>
            <a:ext cx="137160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9120" y="1874520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Fixes H3, H4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14400" y="2157984"/>
            <a:ext cx="4892040" cy="274320"/>
          </a:xfrm>
          <a:prstGeom prst="roundRect">
            <a:avLst>
              <a:gd name="adj" fmla="val 20000"/>
            </a:avLst>
          </a:prstGeom>
          <a:solidFill>
            <a:srgbClr val="0F172A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2157984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D1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score(q) = α · comm_norm(D, q) + (1 - α) · occ_norm(q)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14400" y="2468880"/>
            <a:ext cx="489204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Dynamic Balancing: </a:t>
            </a:r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Blends data proximity with real-time queue backlog.
</a:t>
            </a:r>
            <a:pPr indent="0" marL="0">
              <a:lnSpc>
                <a:spcPts val="1300"/>
              </a:lnSpc>
              <a:buNone/>
            </a:pPr>
            <a:r>
              <a:rPr lang="en-US" sz="88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Starvation Diverter: </a:t>
            </a:r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Automatically diverts tasks to neighboring idle queues before congestion creates stalls.</a:t>
            </a:r>
            <a:endParaRPr lang="en-US" sz="880" dirty="0"/>
          </a:p>
        </p:txBody>
      </p:sp>
      <p:sp>
        <p:nvSpPr>
          <p:cNvPr id="18" name="Shape 16"/>
          <p:cNvSpPr/>
          <p:nvPr/>
        </p:nvSpPr>
        <p:spPr>
          <a:xfrm>
            <a:off x="914400" y="3218688"/>
            <a:ext cx="4892040" cy="365760"/>
          </a:xfrm>
          <a:prstGeom prst="roundRect">
            <a:avLst>
              <a:gd name="adj" fmla="val 20000"/>
            </a:avLst>
          </a:prstGeom>
          <a:solidFill>
            <a:srgbClr val="DCFCE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" y="3218688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5F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Cures SparseLU Paradox: Reverses +15.1% slowdown · Balances queues within ±1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272784" y="1837944"/>
            <a:ext cx="5257800" cy="1874520"/>
          </a:xfrm>
          <a:prstGeom prst="roundRect">
            <a:avLst>
              <a:gd name="adj" fmla="val 6829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17920" y="1783080"/>
            <a:ext cx="5257800" cy="1874520"/>
          </a:xfrm>
          <a:prstGeom prst="roundRect">
            <a:avLst>
              <a:gd name="adj" fmla="val 6829"/>
            </a:avLst>
          </a:prstGeom>
          <a:solidFill>
            <a:srgbClr val="FFF1EB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0" y="187452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Pillar 2: Task-Level Shadow Index (N-B)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875520" y="1874520"/>
            <a:ext cx="137160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875520" y="1874520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Fixes H2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400800" y="2157984"/>
            <a:ext cx="4892040" cy="274320"/>
          </a:xfrm>
          <a:prstGeom prst="roundRect">
            <a:avLst>
              <a:gd name="adj" fmla="val 20000"/>
            </a:avLst>
          </a:prstGeom>
          <a:solidFill>
            <a:srgbClr val="0F172A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0" y="2157984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D1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steal_target = argmax_{t ∈ Top-K} ( Affinity(thief, Footprint(t)) )</a:t>
            </a:r>
            <a:endParaRPr lang="en-US" sz="880" dirty="0"/>
          </a:p>
        </p:txBody>
      </p:sp>
      <p:sp>
        <p:nvSpPr>
          <p:cNvPr id="27" name="Text 25"/>
          <p:cNvSpPr/>
          <p:nvPr/>
        </p:nvSpPr>
        <p:spPr>
          <a:xfrm>
            <a:off x="6400800" y="2468880"/>
            <a:ext cx="489204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Shadow Index: </a:t>
            </a:r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Lock-free ring buffer indexing data footprint affinities of top k=8 tasks.
</a:t>
            </a:r>
            <a:pPr indent="0" marL="0">
              <a:lnSpc>
                <a:spcPts val="1300"/>
              </a:lnSpc>
              <a:buNone/>
            </a:pPr>
            <a:r>
              <a:rPr lang="en-US" sz="88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Locality Theft: </a:t>
            </a:r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Thief steals the task matching local RAM instead of popping queue tail blindly.</a:t>
            </a:r>
            <a:endParaRPr lang="en-US" sz="880" dirty="0"/>
          </a:p>
        </p:txBody>
      </p:sp>
      <p:sp>
        <p:nvSpPr>
          <p:cNvPr id="28" name="Shape 26"/>
          <p:cNvSpPr/>
          <p:nvPr/>
        </p:nvSpPr>
        <p:spPr>
          <a:xfrm>
            <a:off x="6400800" y="3218688"/>
            <a:ext cx="4892040" cy="365760"/>
          </a:xfrm>
          <a:prstGeom prst="roundRect">
            <a:avLst>
              <a:gd name="adj" fmla="val 20000"/>
            </a:avLst>
          </a:prstGeom>
          <a:solidFill>
            <a:srgbClr val="FFE5D9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46520" y="3218688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34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Affinity Stealing: Cuts remote steal penalty by 4.2× · 0 blind victim queue pops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786384" y="3849624"/>
            <a:ext cx="5257800" cy="1874520"/>
          </a:xfrm>
          <a:prstGeom prst="roundRect">
            <a:avLst>
              <a:gd name="adj" fmla="val 6829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31520" y="3794760"/>
            <a:ext cx="5257800" cy="1874520"/>
          </a:xfrm>
          <a:prstGeom prst="roundRect">
            <a:avLst>
              <a:gd name="adj" fmla="val 6829"/>
            </a:avLst>
          </a:prstGeom>
          <a:solidFill>
            <a:srgbClr val="F0FDF4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388620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Pillar 3: Adaptive Vicinity Radius (N-C)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389120" y="3886200"/>
            <a:ext cx="137160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89120" y="3886200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Fixes H1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914400" y="4169664"/>
            <a:ext cx="4892040" cy="274320"/>
          </a:xfrm>
          <a:prstGeom prst="roundRect">
            <a:avLst>
              <a:gd name="adj" fmla="val 20000"/>
            </a:avLst>
          </a:prstGeom>
          <a:solidFill>
            <a:srgbClr val="0F172A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4169664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D1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radius_{t+1} = clamp( radius_t + sign(rate_{EWMA} - target), 1, D_max )</a:t>
            </a:r>
            <a:endParaRPr lang="en-US" sz="880" dirty="0"/>
          </a:p>
        </p:txBody>
      </p:sp>
      <p:sp>
        <p:nvSpPr>
          <p:cNvPr id="37" name="Text 35"/>
          <p:cNvSpPr/>
          <p:nvPr/>
        </p:nvSpPr>
        <p:spPr>
          <a:xfrm>
            <a:off x="914400" y="4480560"/>
            <a:ext cx="489204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Adaptive EWMA: </a:t>
            </a:r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Per-worker EWMA idle transition rate dynamically scales steal vicinity radius.
</a:t>
            </a:r>
            <a:pPr indent="0" marL="0">
              <a:lnSpc>
                <a:spcPts val="1300"/>
              </a:lnSpc>
              <a:buNone/>
            </a:pPr>
            <a:r>
              <a:rPr lang="en-US" sz="88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Dynamic Clustering: </a:t>
            </a:r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Expands reach during starvation; contracts to local socket when queues are balanced.</a:t>
            </a:r>
            <a:endParaRPr lang="en-US" sz="880" dirty="0"/>
          </a:p>
        </p:txBody>
      </p:sp>
      <p:sp>
        <p:nvSpPr>
          <p:cNvPr id="38" name="Shape 36"/>
          <p:cNvSpPr/>
          <p:nvPr/>
        </p:nvSpPr>
        <p:spPr>
          <a:xfrm>
            <a:off x="914400" y="5230368"/>
            <a:ext cx="4892040" cy="365760"/>
          </a:xfrm>
          <a:prstGeom prst="roundRect">
            <a:avLst>
              <a:gd name="adj" fmla="val 20000"/>
            </a:avLst>
          </a:prstGeom>
          <a:solidFill>
            <a:srgbClr val="DCE4FF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0120" y="5230368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0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Adaptive Radius: Auto-tunes reach via EWMA · Steal overhead stabilized &lt; 5%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6272784" y="3849624"/>
            <a:ext cx="5257800" cy="1874520"/>
          </a:xfrm>
          <a:prstGeom prst="roundRect">
            <a:avLst>
              <a:gd name="adj" fmla="val 6829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217920" y="3794760"/>
            <a:ext cx="525780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0" y="388620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Pillar 4: Dynamic Migration &amp; Zero Locks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9875520" y="3886200"/>
            <a:ext cx="1371600" cy="201168"/>
          </a:xfrm>
          <a:prstGeom prst="roundRect">
            <a:avLst>
              <a:gd name="adj" fmla="val 50000"/>
            </a:avLst>
          </a:prstGeom>
          <a:solidFill>
            <a:srgbClr val="FFE5D9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875520" y="3886200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Fixes H6, H8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6400800" y="4169664"/>
            <a:ext cx="4892040" cy="274320"/>
          </a:xfrm>
          <a:prstGeom prst="roundRect">
            <a:avLst>
              <a:gd name="adj" fmla="val 20000"/>
            </a:avLst>
          </a:prstGeom>
          <a:solidFill>
            <a:srgbClr val="0F172A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0800" y="4169664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D1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Trigger Migration IF (Acc_Benefit &gt; C_mig ≈ 120 cycles)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400800" y="4480560"/>
            <a:ext cx="489204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Dynamic Re-homing: </a:t>
            </a:r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Migrates frequently-accessed tile cache lines toward heavy compute clusters.
</a:t>
            </a:r>
            <a:pPr indent="0" marL="0">
              <a:lnSpc>
                <a:spcPts val="1300"/>
              </a:lnSpc>
              <a:buNone/>
            </a:pPr>
            <a:r>
              <a:rPr lang="en-US" sz="88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Lock-Free Hot Path: </a:t>
            </a:r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Coordination telemetry swaps double-buffered stats via atomic CAS — zero locks!</a:t>
            </a:r>
            <a:endParaRPr lang="en-US" sz="880" dirty="0"/>
          </a:p>
        </p:txBody>
      </p:sp>
      <p:sp>
        <p:nvSpPr>
          <p:cNvPr id="48" name="Shape 46"/>
          <p:cNvSpPr/>
          <p:nvPr/>
        </p:nvSpPr>
        <p:spPr>
          <a:xfrm>
            <a:off x="6400800" y="5230368"/>
            <a:ext cx="4892040" cy="365760"/>
          </a:xfrm>
          <a:prstGeom prst="roundRect">
            <a:avLst>
              <a:gd name="adj" fmla="val 20000"/>
            </a:avLst>
          </a:prstGeom>
          <a:solidFill>
            <a:srgbClr val="FEF08A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46520" y="5230368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54D0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Dynamic Re-homing: Migrates cache lines in 120 cyc · Atomic CAS zero-lock path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777240" y="5806440"/>
            <a:ext cx="10744200" cy="502920"/>
          </a:xfrm>
          <a:prstGeom prst="roundRect">
            <a:avLst>
              <a:gd name="adj" fmla="val 18182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31520" y="5760720"/>
            <a:ext cx="10744200" cy="502920"/>
          </a:xfrm>
          <a:prstGeom prst="roundRect">
            <a:avLst>
              <a:gd name="adj" fmla="val 18182"/>
            </a:avLst>
          </a:prstGeom>
          <a:solidFill>
            <a:srgbClr val="FFD147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144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NOVA PRINCIPLE: </a:t>
            </a:r>
            <a:pPr indent="0" marL="0">
              <a:buNone/>
            </a:pPr>
            <a:r>
              <a:rPr lang="en-US" sz="105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Maximize memory locality when queues are balanced; dynamically transition to load-balancing when queue backlog or interconnect contention threatens idle core stalls.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731520" y="6355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NOVA / ALLoC Scheduler Architecture · High-Performance Computing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10058400" y="6355080"/>
            <a:ext cx="13990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 06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 standalone="yes"?>
<Properties xmlns="http://schemas.openxmlformats.org/officeDocument/2006/extended-properties" xmlns:vt="http://schemas.openxmlformats.org/officeDocument/2006/docPropsVTypes">
	<TotalTime>0</TotalTime>
	<Words>0</Words>
	<Application>Microsoft Office PowerPoint</Application>
	<PresentationFormat>On-screen Show (16:9)</PresentationFormat>
	<Paragraphs>0</Paragraphs>
	<Slides>6</Slides>
	<Notes>6</Notes>
	<HiddenSlides>0</HiddenSlides>
	<MMClips>0</MMClips>
	<ScaleCrop>false</ScaleCrop>
	<HeadingPairs>
		<vt:vector size="6" baseType="variant">
			<vt:variant><vt:lpstr>Fonts Used</vt:lpstr></vt:variant>
			<vt:variant><vt:i4>2</vt:i4></vt:variant>
			<vt:variant><vt:lpstr>Theme</vt:lpstr></vt:variant>
			<vt:variant><vt:i4>1</vt:i4></vt:variant>
			<vt:variant><vt:lpstr>Slide Titles</vt:lpstr></vt:variant>
			<vt:variant><vt:i4>6</vt:i4></vt:variant>
		</vt:vector>
	</HeadingPairs>
	<TitlesOfParts>
		<vt:vector size="9" baseType="lpstr">
			<vt:lpstr>Arial</vt:lpstr>
			<vt:lpstr>Calibri</vt:lpstr>
			<vt:lpstr>Office Theme</vt:lpstr>
			<vt:lpstr>Slide 1</vt:lpstr><vt:lpstr>Slide 2</vt:lpstr><vt:lpstr>Slide 3</vt:lpstr><vt:lpstr>Slide 4</vt:lpstr><vt:lpstr>Slide 5</vt:lpstr><vt:lpstr>Slide 6</vt:lpstr>
		</vt:vector>
	</TitlesOfParts>
	<Company>HPC & Runtime Systems Architecture</Company>
	<LinksUpToDate>false</LinksUpToDate>
	<SharedDoc>false</SharedDoc>
	<HyperlinksChanged>false</HyperlinksChanged>
	<AppVersion>16.0000</AppVersion>
	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Locality-Aware Task Scheduling on Heterogeneous HPC Architectures</dc:title>
  <dc:subject>HPC Final Project Presentation</dc:subject>
  <dc:creator>PptxGenJS</dc:creator>
  <cp:lastModifiedBy>PptxGenJS</cp:lastModifiedBy>
  <cp:revision>1</cp:revision>
  <dcterms:created xsi:type="dcterms:W3CDTF">2026-10-08T19:38:08Z</dcterms:created>
  <dcterms:modified xsi:type="dcterms:W3CDTF">2026-10-08T19:38:08Z</dcterms:modified>
</cp:coreProperties>
</file>