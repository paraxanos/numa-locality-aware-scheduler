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1664208" cy="29260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16642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HPC SYSTEMS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532888" y="411480"/>
            <a:ext cx="33238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532888" y="411480"/>
            <a:ext cx="33238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 REPRODUCTION &amp; EXTENSION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960120"/>
            <a:ext cx="5943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Locality-Aware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31520" y="1600200"/>
            <a:ext cx="5943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Task Scheduling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731520" y="2423160"/>
            <a:ext cx="4937760" cy="822960"/>
          </a:xfrm>
          <a:prstGeom prst="roundRect">
            <a:avLst>
              <a:gd name="adj" fmla="val 11111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42316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 Heterogeneous HPC</a:t>
            </a:r>
            <a:endParaRPr lang="en-US" sz="3200" dirty="0"/>
          </a:p>
        </p:txBody>
      </p:sp>
      <p:sp>
        <p:nvSpPr>
          <p:cNvPr id="10" name="Shape 8"/>
          <p:cNvSpPr/>
          <p:nvPr/>
        </p:nvSpPr>
        <p:spPr>
          <a:xfrm>
            <a:off x="731520" y="3474720"/>
            <a:ext cx="2103120" cy="320040"/>
          </a:xfrm>
          <a:prstGeom prst="roundRect">
            <a:avLst>
              <a:gd name="adj" fmla="val 48571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4747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AMD Opteron 8-Node NUMA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944368" y="3474720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DCE4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44368" y="34747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TILEPro64 8×8 Mesh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91456" y="3474720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FFE5D9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91456" y="34747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NOVA Co-Scheduler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31520" y="4023360"/>
            <a:ext cx="49377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empirical reproduction of Muddukrishna et al. (Scientific Programming 2015), uncovering the SparseLU locality paradox (+15.1% slowdown), and delivering the NOVA co-scheduling runtime architecture for multi-socket servers and 2D mesh manycores.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Qasim · Awadesh · Devashish · Husaam · Chirag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0058400" y="6355080"/>
            <a:ext cx="1399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/ 06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72784" y="1060704"/>
            <a:ext cx="5212080" cy="4937760"/>
          </a:xfrm>
          <a:prstGeom prst="roundRect">
            <a:avLst>
              <a:gd name="adj" fmla="val 3333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1005840"/>
            <a:ext cx="5212080" cy="49377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11887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Dual-Architecture Latency Cliffs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492240" y="15544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blind work-stealing collapses on non-uniform memory topologies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92240" y="192024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EEF2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0" y="2011680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AMD Opteron (NUMA)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83680" y="2267712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Sockets · 48 Cores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83680" y="2514600"/>
            <a:ext cx="2057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DRAM:
</a:t>
            </a:r>
            <a:pPr indent="0" marL="0">
              <a:buNone/>
            </a:pPr>
            <a:r>
              <a:rPr lang="en-US" sz="13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~40 cycles
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 Socket Bus:
</a:t>
            </a:r>
            <a:pPr indent="0" marL="0">
              <a:buNone/>
            </a:pPr>
            <a:r>
              <a:rPr lang="en-US" sz="13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 – 340 cycles
</a:t>
            </a:r>
            <a:pPr indent="0" marL="0">
              <a:buNone/>
            </a:pPr>
            <a:r>
              <a:rPr lang="en-US" sz="8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(6× – 8× Latency Cliff)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915400" y="192024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1EB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006840" y="2011680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TILEPro64 (Mesh)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006840" y="2267712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8×8 Grid · 64 Cores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9006840" y="2514600"/>
            <a:ext cx="2057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Tile L2 Bank:
</a:t>
            </a:r>
            <a:pPr indent="0" marL="0">
              <a:buNone/>
            </a:pPr>
            <a:r>
              <a:rPr lang="en-US" sz="13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cycles
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 Mesh Hop:
</a:t>
            </a:r>
            <a:pPr indent="0" marL="0">
              <a:buNone/>
            </a:pPr>
            <a:r>
              <a:rPr lang="en-US" sz="13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+ 2·h cycles
</a:t>
            </a:r>
            <a:pPr indent="0" marL="0">
              <a:buNone/>
            </a:pPr>
            <a:r>
              <a:rPr lang="en-US" sz="8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(Up to 14 hops = 66 cyc)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92240" y="4206240"/>
            <a:ext cx="4663440" cy="1463040"/>
          </a:xfrm>
          <a:prstGeom prst="roundRect">
            <a:avLst>
              <a:gd name="adj" fmla="val 7500"/>
            </a:avLst>
          </a:prstGeom>
          <a:solidFill>
            <a:srgbClr val="0F172A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29400" y="425196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Fundamental Dilemma in HPC Schedulers:
</a:t>
            </a:r>
            <a:pPr indent="0" marL="0">
              <a:buNone/>
            </a:pPr>
            <a:r>
              <a:rPr lang="en-US" sz="1000" b="1" dirty="0">
                <a:solidFill>
                  <a:srgbClr val="FFD1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cost(X) = Σ (D[i] / line_size) × latency(X, i)
</a:t>
            </a:r>
            <a:pPr indent="0" marL="0">
              <a:buNone/>
            </a:pPr>
            <a:r>
              <a:rPr lang="en-US" sz="9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Locality dealing cuts comm stalls by up to 80%...
</a:t>
            </a:r>
            <a:pPr indent="0" marL="0">
              <a:buNone/>
            </a:pPr>
            <a:r>
              <a:rPr lang="en-US" sz="900" b="1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BUT starves idle cores when queue backlog is ignored!
</a:t>
            </a:r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Co-schedule memory locality AND core load balance.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11155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984248" y="411480"/>
            <a:ext cx="341071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84248" y="411480"/>
            <a:ext cx="34107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HARDWARE TOPOLOGY &amp; LATENCY MODELS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Two Memory Models, 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669280" y="822960"/>
            <a:ext cx="4206240" cy="594360"/>
          </a:xfrm>
          <a:prstGeom prst="roundRect">
            <a:avLst>
              <a:gd name="adj" fmla="val 15385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0" y="822960"/>
            <a:ext cx="4023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Two Latency Cliffs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31520" y="1463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Discrete socket memory hierarchies vs. distributed shared L2 cache on an 8×8 mesh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86384" y="1883664"/>
            <a:ext cx="5212080" cy="3429000"/>
          </a:xfrm>
          <a:prstGeom prst="roundRect">
            <a:avLst>
              <a:gd name="adj" fmla="val 4267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828800"/>
            <a:ext cx="5212080" cy="3429000"/>
          </a:xfrm>
          <a:prstGeom prst="roundRect">
            <a:avLst>
              <a:gd name="adj" fmla="val 4267"/>
            </a:avLst>
          </a:prstGeom>
          <a:solidFill>
            <a:srgbClr val="EEF2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201168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AMD Opteron 8-Node NUMA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005840" y="2377440"/>
            <a:ext cx="256032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1118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377440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Hierarchical HyperTransport Bus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05840" y="2743200"/>
            <a:ext cx="46634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Topology: 8 discrete sockets (3–6 cores/node, 24–48 cores total)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Memory: Discrete physical DRAM channels attached to each socket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Access: ~40 CPU cycles (Node RAM via integrated memory controller)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Remote Access: 240 – 340 CPU cycles (Cross-socket HyperTransport bus)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Diameter: 3 hops maximum between opposing sockets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Distribution: First-touch page allocation (4 KB page granularity)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Pathology: Bus congestion under work-stealing drags 6×–8× stall penalty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72784" y="1883664"/>
            <a:ext cx="5212080" cy="3429000"/>
          </a:xfrm>
          <a:prstGeom prst="roundRect">
            <a:avLst>
              <a:gd name="adj" fmla="val 4267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1828800"/>
            <a:ext cx="5212080" cy="3429000"/>
          </a:xfrm>
          <a:prstGeom prst="roundRect">
            <a:avLst>
              <a:gd name="adj" fmla="val 4267"/>
            </a:avLst>
          </a:prstGeom>
          <a:solidFill>
            <a:srgbClr val="FFF1EB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201168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TILEPro64 64-Tile Manycore Mesh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492240" y="2377440"/>
            <a:ext cx="256032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1118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2377440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8×8 2D Dynamic Mesh Network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492240" y="2743200"/>
            <a:ext cx="46634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Topology: 8×8 2D grid network (1 VLIW core per tile, 64 cores total)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Memory: Distributed shared L2 cache (64 KB slice homed per tile = 4 MB total)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Access: 10 CPU cycles (Local tile L2 cache bank)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Remote Access: 38 cycles base + 2 cycles per Manhattan hop (|Δx| + |Δy|)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Diameter: 14 hops between corners ((7-0) + (7-0) = 14 hops = 66 cycles)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Distribution: Coarse (entire buffer in 1 tile) vs Fine (striped cache lines)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Pathology: Center bisection link contention; static home cache trapping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6384" y="5495544"/>
            <a:ext cx="10698480" cy="731520"/>
          </a:xfrm>
          <a:prstGeom prst="roundRect">
            <a:avLst>
              <a:gd name="adj" fmla="val 150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1520" y="5440680"/>
            <a:ext cx="10698480" cy="731520"/>
          </a:xfrm>
          <a:prstGeom prst="roundRect">
            <a:avLst>
              <a:gd name="adj" fmla="val 15000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544068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Architectural Lesson: </a:t>
            </a:r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NUMA, memory latency is tied to physical socket boundaries. In TILEPro64, it scales continuously with 2D geometric Manhattan distance. Uniform task schedulers fail catastrophically on both.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Locality-Aware Task Scheduling · Hardware Topology &amp; Latency Models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0058400" y="6355080"/>
            <a:ext cx="1399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06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11155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984248" y="411480"/>
            <a:ext cx="245516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84248" y="411480"/>
            <a:ext cx="24551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 PATHOLOGY AUDIT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Naive Locality Fails: 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035040" y="822960"/>
            <a:ext cx="3566160" cy="594360"/>
          </a:xfrm>
          <a:prstGeom prst="roundRect">
            <a:avLst>
              <a:gd name="adj" fmla="val 15385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0" y="82296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10 Hotspots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31520" y="1463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Deep audit of Muddukrishna et al. (2015) revealing root causes of runtime regression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86384" y="1837944"/>
            <a:ext cx="3410712" cy="3520440"/>
          </a:xfrm>
          <a:prstGeom prst="roundRect">
            <a:avLst>
              <a:gd name="adj" fmla="val 3753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783080"/>
            <a:ext cx="3410712" cy="3520440"/>
          </a:xfrm>
          <a:prstGeom prst="roundRect">
            <a:avLst>
              <a:gd name="adj" fmla="val 3753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920240"/>
            <a:ext cx="3044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Stealing &amp; Placement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2212848"/>
            <a:ext cx="1463040" cy="201168"/>
          </a:xfrm>
          <a:prstGeom prst="roundRect">
            <a:avLst>
              <a:gd name="adj" fmla="val 50000"/>
            </a:avLst>
          </a:prstGeom>
          <a:solidFill>
            <a:srgbClr val="DCE4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21284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Hotspots H1 – H4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14400" y="2514600"/>
            <a:ext cx="3044952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H1 (Static Steal Reach): Fixed vicinity size starves threads on Map or drags 6× remote stalls on Vecmul.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H2 (Queue-Level Stealing): Pops victim queue tail blindly; ignores whether another task in that queue has local data!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H3 (Load-Blind Placement): Dealer routes to argmin(comm_cost) without reading queue length; piles all work on 1 core.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H4 (Binary Threshold Cliffs): Brittle sum(D) &gt; LLC/C gates trigger heavy O(N²) path with no calibration.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425696" y="1837944"/>
            <a:ext cx="3410712" cy="3520440"/>
          </a:xfrm>
          <a:prstGeom prst="roundRect">
            <a:avLst>
              <a:gd name="adj" fmla="val 3753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70832" y="1783080"/>
            <a:ext cx="3410712" cy="3520440"/>
          </a:xfrm>
          <a:prstGeom prst="roundRect">
            <a:avLst>
              <a:gd name="adj" fmla="val 3753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99432" y="1920240"/>
            <a:ext cx="3044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 Model &amp; Feedback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99432" y="2212848"/>
            <a:ext cx="1463040" cy="201168"/>
          </a:xfrm>
          <a:prstGeom prst="roundRect">
            <a:avLst>
              <a:gd name="adj" fmla="val 50000"/>
            </a:avLst>
          </a:prstGeom>
          <a:solidFill>
            <a:srgbClr val="FFE5D9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99432" y="221284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Hotspots H5 – H7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599432" y="2514600"/>
            <a:ext cx="3044952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H5 (Fragile Footprints): Footprint vector D relies on OpenMP depend clauses. Incomplete clauses silently ruin placement.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H6 (No Feedback Loop): Data distribution is frozen at omp_malloc. Runtime never migrates hot mis-placed pages.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H7 (Coarse/Fine Menu Blind Spot): Rigid 2-item menu fails on irregular matrix blocks (SparseLU), causing severe regression.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065008" y="1837944"/>
            <a:ext cx="3410712" cy="3520440"/>
          </a:xfrm>
          <a:prstGeom prst="roundRect">
            <a:avLst>
              <a:gd name="adj" fmla="val 3753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10144" y="1783080"/>
            <a:ext cx="3410712" cy="3520440"/>
          </a:xfrm>
          <a:prstGeom prst="roundRect">
            <a:avLst>
              <a:gd name="adj" fmla="val 3753"/>
            </a:avLst>
          </a:prstGeom>
          <a:solidFill>
            <a:srgbClr val="EEF2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84464" y="1920240"/>
            <a:ext cx="3044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TILEPro64 Mesh Bottlenecks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284464" y="2212848"/>
            <a:ext cx="146304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84464" y="221284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Hotspots H8 – H10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84464" y="2514600"/>
            <a:ext cx="3044952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H8 (Static Home-Cache Trapping): Data is permanently locked to initial home cache; forces brutal locality vs balance conflict.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H9 (Center Bisection Contention): XY dimension-order routing concentrates traffic on center bisection links (tiles 3,3 to 4,4).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H10 (2D Coarse/Fine Mismatch): 1D line striping destroys 2D spatial locality for matrix stencils and blocked solvers.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86384" y="5495544"/>
            <a:ext cx="10698480" cy="731520"/>
          </a:xfrm>
          <a:prstGeom prst="roundRect">
            <a:avLst>
              <a:gd name="adj" fmla="val 150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1520" y="5440680"/>
            <a:ext cx="10698480" cy="731520"/>
          </a:xfrm>
          <a:prstGeom prst="roundRect">
            <a:avLst>
              <a:gd name="adj" fmla="val 15000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544068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Audit Discovery: </a:t>
            </a:r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Optimizing memory locality while ignoring queue backlog and interconnect contention is mathematically self-defeating on irregular task graphs.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Auditing Muddukrishna et al. (2015) · Hotspots H1–H10 Taxonomy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0058400" y="6355080"/>
            <a:ext cx="1399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06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11155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984248" y="411480"/>
            <a:ext cx="34975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84248" y="411480"/>
            <a:ext cx="34975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EMPIRICAL REPRODUCTION &amp; BENCHMARKS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SparseLU Paradox: 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035040" y="822960"/>
            <a:ext cx="4389120" cy="594360"/>
          </a:xfrm>
          <a:prstGeom prst="roundRect">
            <a:avLst>
              <a:gd name="adj" fmla="val 15385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0" y="82296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When Locality Slows Down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31520" y="1463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NUMA runs on 8-node Opteron + 56 configurations on 64-tile TILEPro64 mesh simulator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86384" y="1837944"/>
            <a:ext cx="5486400" cy="4434840"/>
          </a:xfrm>
          <a:prstGeom prst="roundRect">
            <a:avLst>
              <a:gd name="adj" fmla="val 3299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783080"/>
            <a:ext cx="5486400" cy="4434840"/>
          </a:xfrm>
          <a:prstGeom prst="roundRect">
            <a:avLst>
              <a:gd name="adj" fmla="val 3299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92024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AMD Opteron Reproduction (100 Runs, 100% Verification)</a:t>
            </a:r>
            <a:endParaRPr lang="en-US" sz="1150" dirty="0"/>
          </a:p>
        </p:txBody>
      </p:sp>
      <p:pic>
        <p:nvPicPr>
          <p:cNvPr id="13" name="Image 0" descr="/Users/yeschirag/Desktop/college/HPC project/results/numa/fig7_reproduc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40280"/>
            <a:ext cx="5120640" cy="246888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914400" y="4800600"/>
            <a:ext cx="5120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Map: </a:t>
            </a:r>
            <a:pPr indent="0" marL="0">
              <a:buNone/>
            </a:pPr>
            <a:r>
              <a:rPr lang="en-US" sz="95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-45.1% Comm Cost (0.55×) · -19.0% Execution Cycles (0.81×)
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Matmul: </a:t>
            </a:r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-22.5% Comm Cost (0.78×) · Runtime Parity (Balanced)
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SparseLU: </a:t>
            </a:r>
            <a:pPr indent="0" marL="0">
              <a:buNone/>
            </a:pPr>
            <a:r>
              <a:rPr lang="en-US" sz="95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-26.7% Comm Cost BUT +15.1% SLOWER Execution! (The Paradox)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547104" y="1837944"/>
            <a:ext cx="4937760" cy="2286000"/>
          </a:xfrm>
          <a:prstGeom prst="roundRect">
            <a:avLst>
              <a:gd name="adj" fmla="val 56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92240" y="1783080"/>
            <a:ext cx="4937760" cy="2286000"/>
          </a:xfrm>
          <a:prstGeom prst="roundRect">
            <a:avLst>
              <a:gd name="adj" fmla="val 5600"/>
            </a:avLst>
          </a:prstGeom>
          <a:solidFill>
            <a:srgbClr val="0F172A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675120" y="1920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D1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SparseLU Pathology Explained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675120" y="2240280"/>
            <a:ext cx="457200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Why locality dealing caused a +15.1% slowdown:
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Irregular Task DAG: </a:t>
            </a:r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 have skewed input dependencies.
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Load-Blind Placement: </a:t>
            </a:r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Dealer sent all critical tasks to Node 0.
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Worker Starvation: </a:t>
            </a:r>
            <a:pPr indent="0" marL="0">
              <a:buNone/>
            </a:pPr>
            <a:r>
              <a:rPr lang="en-US" sz="900" b="1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 0 had 20 tasks; Queues 1–7 were empty!
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Cost Penalty: </a:t>
            </a:r>
            <a:pPr indent="0" marL="0">
              <a:buNone/>
            </a:pPr>
            <a:r>
              <a:rPr lang="en-US" sz="9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worker cores sat completely idle. Comm win was wiped out by starvation cycles!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547104" y="4261104"/>
            <a:ext cx="4937760" cy="2011680"/>
          </a:xfrm>
          <a:prstGeom prst="roundRect">
            <a:avLst>
              <a:gd name="adj" fmla="val 6364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92240" y="4206240"/>
            <a:ext cx="4937760" cy="2011680"/>
          </a:xfrm>
          <a:prstGeom prst="roundRect">
            <a:avLst>
              <a:gd name="adj" fmla="val 6364"/>
            </a:avLst>
          </a:prstGeom>
          <a:solidFill>
            <a:srgbClr val="FFF1EB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675120" y="4343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TILEPro64 8×8 Mesh Simulation Findings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6675120" y="466344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80.3% Communication Reduction: LA+Coarse drops comm cost from 6.67M down to 1.31M cycles on Map.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39.3% Execution Speedup: Simulated runtime drops from 281K down to 170K cycles.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Steal Elimination: Drops from 63 remote mesh steals in Work-Stealing down to ZERO steals under LA+Coarse!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Mesh Latency Accuracy: Verified against 10-cycle local L2 and 38+2·hop remote formulas across all 64 tiles.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Empirical Reproduction: AMD Opteron NUMA &amp; TILEPro64 Manycore Mesh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10058400" y="6355080"/>
            <a:ext cx="1399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06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11155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984248" y="411480"/>
            <a:ext cx="236829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84248" y="411480"/>
            <a:ext cx="23682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SCHEDULER ARCHITECTURE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NOVA Solution: 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212080" y="822960"/>
            <a:ext cx="5029200" cy="594360"/>
          </a:xfrm>
          <a:prstGeom prst="roundRect">
            <a:avLst>
              <a:gd name="adj" fmla="val 15385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0" y="82296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Adaptive Co-Scheduling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31520" y="1463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Four architectural pillars that eliminate the SparseLU bottleneck while preserving memory locality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86384" y="1837944"/>
            <a:ext cx="5212080" cy="1783080"/>
          </a:xfrm>
          <a:prstGeom prst="roundRect">
            <a:avLst>
              <a:gd name="adj" fmla="val 7179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783080"/>
            <a:ext cx="5212080" cy="1783080"/>
          </a:xfrm>
          <a:prstGeom prst="roundRect">
            <a:avLst>
              <a:gd name="adj" fmla="val 7179"/>
            </a:avLst>
          </a:prstGeom>
          <a:solidFill>
            <a:srgbClr val="EEF2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87452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Pillar 1: Load-Aware Work Dealing (N-A)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89120" y="1874520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0" y="187452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Fixes H3, H4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14400" y="2176272"/>
            <a:ext cx="484632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2176272"/>
            <a:ext cx="4846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score(q) = α · comm_norm(D, q) + (1 - α) · occ_norm(q)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14400" y="2578608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Blends data proximity with real-time queue backlog. Automatically diverts tasks to neighboring idle queues before congestion creates worker starvation.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272784" y="1837944"/>
            <a:ext cx="5212080" cy="1783080"/>
          </a:xfrm>
          <a:prstGeom prst="roundRect">
            <a:avLst>
              <a:gd name="adj" fmla="val 7179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17920" y="1783080"/>
            <a:ext cx="5212080" cy="1783080"/>
          </a:xfrm>
          <a:prstGeom prst="roundRect">
            <a:avLst>
              <a:gd name="adj" fmla="val 7179"/>
            </a:avLst>
          </a:prstGeom>
          <a:solidFill>
            <a:srgbClr val="FFF1EB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187452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Pillar 2: Task-Level Shadow Index (N-B)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875520" y="1874520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875520" y="187452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Fixes H2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400800" y="2176272"/>
            <a:ext cx="484632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0" y="2176272"/>
            <a:ext cx="4846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steal_target = argmax_{t ∈ Top-K} ( Affinity(thief_node, Footprint(t)) 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400800" y="2578608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Replaces blind queue-tail popping with a lock-free Shadow Index. Idle thief inspects top k=8 tasks in victim queue and steals the task that has maximal affinity to thief RAM.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86384" y="3712464"/>
            <a:ext cx="5212080" cy="1783080"/>
          </a:xfrm>
          <a:prstGeom prst="roundRect">
            <a:avLst>
              <a:gd name="adj" fmla="val 7179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1520" y="3657600"/>
            <a:ext cx="5212080" cy="1783080"/>
          </a:xfrm>
          <a:prstGeom prst="roundRect">
            <a:avLst>
              <a:gd name="adj" fmla="val 7179"/>
            </a:avLst>
          </a:prstGeom>
          <a:solidFill>
            <a:srgbClr val="F0FDF4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374904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Pillar 3: Adaptive Vicinity Radius (N-C)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389120" y="3749040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89120" y="374904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Fixes H1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914400" y="4050792"/>
            <a:ext cx="484632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4050792"/>
            <a:ext cx="4846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radius_{t+1} = clamp( radius_t + sign(rate_{EWMA} - target), 1, D_max )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914400" y="4453128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Replaces fixed hard-coded steal radius with per-worker EWMA feedback. Expands reach during starvation; contracts to local cluster when queues are well-balanced.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72784" y="3712464"/>
            <a:ext cx="5212080" cy="1783080"/>
          </a:xfrm>
          <a:prstGeom prst="roundRect">
            <a:avLst>
              <a:gd name="adj" fmla="val 7179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17920" y="3657600"/>
            <a:ext cx="52120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0" y="374904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Pillar 4: Dynamic Migration &amp; Zero Locks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875520" y="3749040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FFE5D9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875520" y="374904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Fixes H6, H8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400800" y="4050792"/>
            <a:ext cx="4846320" cy="347472"/>
          </a:xfrm>
          <a:prstGeom prst="roundRect">
            <a:avLst>
              <a:gd name="adj" fmla="val 21053"/>
            </a:avLst>
          </a:prstGeom>
          <a:solidFill>
            <a:srgbClr val="EEF2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0" y="4050792"/>
            <a:ext cx="4846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Trigger Migration IF (Acc_Benefit &gt; C_mig ≈ 120 cycles)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400800" y="4453128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home-cache line re-homing toward executing tiles. Coordination telemetry uses double-buffered statistics swapped via atomic CAS every 64 ops — zero locks on the hot path!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86384" y="5586984"/>
            <a:ext cx="10698480" cy="685800"/>
          </a:xfrm>
          <a:prstGeom prst="roundRect">
            <a:avLst>
              <a:gd name="adj" fmla="val 160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31520" y="5532120"/>
            <a:ext cx="10698480" cy="685800"/>
          </a:xfrm>
          <a:prstGeom prst="roundRect">
            <a:avLst>
              <a:gd name="adj" fmla="val 16000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" y="5532120"/>
            <a:ext cx="10332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NOVA Principle: </a:t>
            </a:r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Maximize memory locality when queues are balanced; dynamically transition to load-balancing when queue backlog or interconnect contention threatens idle core stalls.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NOVA / ALLoC Scheduler Architecture · High-Performance Computing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058400" y="6355080"/>
            <a:ext cx="1399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06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11155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984248" y="411480"/>
            <a:ext cx="245516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84248" y="411480"/>
            <a:ext cx="24551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SUMMARY &amp; DEFENSE READY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Project Deliverables &amp; 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035040" y="822960"/>
            <a:ext cx="5029200" cy="594360"/>
          </a:xfrm>
          <a:prstGeom prst="roundRect">
            <a:avLst>
              <a:gd name="adj" fmla="val 15385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0" y="82296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Examiner Defense Q&amp;A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31520" y="1463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 dual-architecture reproduction, standalone manycore simulator, and NOVA scheduler specification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86384" y="1837944"/>
            <a:ext cx="5212080" cy="4434840"/>
          </a:xfrm>
          <a:prstGeom prst="roundRect">
            <a:avLst>
              <a:gd name="adj" fmla="val 3299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783080"/>
            <a:ext cx="5212080" cy="4434840"/>
          </a:xfrm>
          <a:prstGeom prst="roundRect">
            <a:avLst>
              <a:gd name="adj" fmla="val 3299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92024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Summary of Concrete Deliverables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4400" y="2286000"/>
            <a:ext cx="2011680" cy="228600"/>
          </a:xfrm>
          <a:prstGeom prst="roundRect">
            <a:avLst>
              <a:gd name="adj" fmla="val 48000"/>
            </a:avLst>
          </a:prstGeom>
          <a:solidFill>
            <a:srgbClr val="DCFCE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28600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 COMPLETE &amp; VERIFIED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14400" y="2606040"/>
            <a:ext cx="4846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AMD Opteron NUMA Baseline Reproduction: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100 benchmark runs across 5 kernels (Map, Matmul, Reduce, Jacobi, SparseLU); verified Figure 7 reproduction with check_ok=1.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Standalone TILEPro64 8×8 Mesh Simulator: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Built full C++/Python mesh simulator from scratch; modeled 10 vs 38+2·hop cycles; 11/11 unit tests passing.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Empirical Discovery of SparseLU Paradox: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Identified and proved the queue starvation pathology that causes locality dealing to run +15.1% slower than work-stealing.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10-Hotspot Audit Taxonomy (H1–H10):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Comprehensive taxonomy covering NUMA steal limits and TILEPro64 2D mesh bisection bottlenecks.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Full NOVA / ALLoC Scheduler Architecture: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Complete mathematical formulation, shadow index stealing algorithm, and lock-free double-buffered control plane.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Open-Source Codebase &amp; Git PR #3: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Fully documented and reproducible on branch feat/tilepro64-simulation-and-presentation.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6272784" y="1837944"/>
            <a:ext cx="5212080" cy="4434840"/>
          </a:xfrm>
          <a:prstGeom prst="roundRect">
            <a:avLst>
              <a:gd name="adj" fmla="val 3299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1783080"/>
            <a:ext cx="5212080" cy="4434840"/>
          </a:xfrm>
          <a:prstGeom prst="roundRect">
            <a:avLst>
              <a:gd name="adj" fmla="val 3299"/>
            </a:avLst>
          </a:prstGeom>
          <a:solidFill>
            <a:srgbClr val="0F172A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192024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D1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Anticipated Examiner Questions &amp; Answers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0" y="2286000"/>
            <a:ext cx="1828800" cy="228600"/>
          </a:xfrm>
          <a:prstGeom prst="roundRect">
            <a:avLst>
              <a:gd name="adj" fmla="val 48000"/>
            </a:avLst>
          </a:prstGeom>
          <a:solidFill>
            <a:srgbClr val="374151"/>
          </a:solidFill>
          <a:ln w="12700">
            <a:solidFill>
              <a:srgbClr val="FFD14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22860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1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EXAMINER DEFENSE READY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400800" y="2606040"/>
            <a:ext cx="4846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Why simulate TILEPro64 instead of running on real hardware?
</a:t>
            </a:r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Ans: TILEPro64 is discontinued specialty hardware. A software model implementing the exact 8×8 mesh and 2D Manhattan latency matrix (10 cycles local, 38+2·hop remote) enables deterministic, cycle-accurate evaluation without hardware drift.
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Why does work-stealing suffer 63 steals in Map while LA+Coarse has 0?
</a:t>
            </a:r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Ans: In work-stealing, Tile 0 creates all 64 tasks; the other 63 idle tiles must each steal remotely across the mesh. Under LA+Coarse, the dealer immediately routes each task to its home tile, eliminating steal overhead entirely.
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How does NOVA avoid lock contention on the critical path?
</a:t>
            </a:r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Ans: Workers make dealing and stealing decisions locally in O(nodes) time without locks. Global queue snapshots and α tuning run in a double-buffer swapped via atomic pointer CAS every 64 ops — zero locks on the hot execution path.
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What is the main takeaway for future HPC runtimes?
</a:t>
            </a:r>
            <a:pPr indent="0" marL="0">
              <a:buNone/>
            </a:pPr>
            <a:r>
              <a:rPr lang="en-US" sz="900" b="1" dirty="0">
                <a:solidFill>
                  <a:srgbClr val="FFD1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Ans: Memory locality and load balance cannot be optimized independently. Adaptive co-scheduling is strictly necessary for scalable speedup.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HPC Project Defense · Qasim · Awadesh · Devashish · Husaam · Chirag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058400" y="6355080"/>
            <a:ext cx="1399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06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 standalone="yes"?>
<Properties xmlns="http://schemas.openxmlformats.org/officeDocument/2006/extended-properties" xmlns:vt="http://schemas.openxmlformats.org/officeDocument/2006/docPropsVTypes">
	<TotalTime>0</TotalTime>
	<Words>0</Words>
	<Application>Microsoft Office PowerPoint</Application>
	<PresentationFormat>On-screen Show (16:9)</PresentationFormat>
	<Paragraphs>0</Paragraphs>
	<Slides>6</Slides>
	<Notes>6</Notes>
	<HiddenSlides>0</HiddenSlides>
	<MMClips>0</MMClips>
	<ScaleCrop>false</ScaleCrop>
	<HeadingPairs>
		<vt:vector size="6" baseType="variant">
			<vt:variant><vt:lpstr>Fonts Used</vt:lpstr></vt:variant>
			<vt:variant><vt:i4>2</vt:i4></vt:variant>
			<vt:variant><vt:lpstr>Theme</vt:lpstr></vt:variant>
			<vt:variant><vt:i4>1</vt:i4></vt:variant>
			<vt:variant><vt:lpstr>Slide Titles</vt:lpstr></vt:variant>
			<vt:variant><vt:i4>6</vt:i4></vt:variant>
		</vt:vector>
	</HeadingPairs>
	<TitlesOfParts>
		<vt:vector size="9" baseType="lpstr">
			<vt:lpstr>Arial</vt:lpstr>
			<vt:lpstr>Calibri</vt:lpstr>
			<vt:lpstr>Office Theme</vt:lpstr>
			<vt:lpstr>Slide 1</vt:lpstr><vt:lpstr>Slide 2</vt:lpstr><vt:lpstr>Slide 3</vt:lpstr><vt:lpstr>Slide 4</vt:lpstr><vt:lpstr>Slide 5</vt:lpstr><vt:lpstr>Slide 6</vt:lpstr>
		</vt:vector>
	</TitlesOfParts>
	<Company>HPC & Runtime Systems Architecture</Company>
	<LinksUpToDate>false</LinksUpToDate>
	<SharedDoc>false</SharedDoc>
	<HyperlinksChanged>false</HyperlinksChanged>
	<AppVersion>16.0000</AppVersion>
	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Locality-Aware Task Scheduling on Heterogeneous HPC Architectures</dc:title>
  <dc:subject>HPC Final Project Presentation</dc:subject>
  <dc:creator>Qasim, Awadesh, Devashish, Husaam, Chirag</dc:creator>
  <cp:lastModifiedBy>Qasim, Awadesh, Devashish, Husaam, Chirag</cp:lastModifiedBy>
  <cp:revision>1</cp:revision>
  <dcterms:created xsi:type="dcterms:W3CDTF">2026-10-08T18:17:55Z</dcterms:created>
  <dcterms:modified xsi:type="dcterms:W3CDTF">2026-10-08T18:17:55Z</dcterms:modified>
</cp:coreProperties>
</file>