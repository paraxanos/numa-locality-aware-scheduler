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1695" cy="6858000"/></a:xfrm><a:prstGeom prst="rect"><a:avLst></a:avLst></a:prstGeom><a:solidFill><a:srgbClr val="F4F0EA"/></a:solidFill><a:ln w="12700"><a:solidFill><a:srgbClr val="F4F0EA"/></a:solidFill><a:prstDash val="solid"/></a:ln></p:spPr></p:sp><p:sp><p:nvSpPr><p:cNvPr id="3" name="Shape 1"></p:cNvPr><p:cNvSpPr/><p:nvPr></p:nvPr></p:nvSpPr><p:spPr><a:xfrm><a:off x="9601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4" name="Shape 2"></p:cNvPr><p:cNvSpPr/><p:nvPr></p:nvPr></p:nvSpPr><p:spPr><a:xfrm><a:off x="19202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5" name="Shape 3"></p:cNvPr><p:cNvSpPr/><p:nvPr></p:nvPr></p:nvSpPr><p:spPr><a:xfrm><a:off x="28803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6" name="Shape 4"></p:cNvPr><p:cNvSpPr/><p:nvPr></p:nvPr></p:nvSpPr><p:spPr><a:xfrm><a:off x="38404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7" name="Shape 5"></p:cNvPr><p:cNvSpPr/><p:nvPr></p:nvPr></p:nvSpPr><p:spPr><a:xfrm><a:off x="48006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8" name="Shape 6"></p:cNvPr><p:cNvSpPr/><p:nvPr></p:nvPr></p:nvSpPr><p:spPr><a:xfrm><a:off x="57607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9" name="Shape 7"></p:cNvPr><p:cNvSpPr/><p:nvPr></p:nvPr></p:nvSpPr><p:spPr><a:xfrm><a:off x="67208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0" name="Shape 8"></p:cNvPr><p:cNvSpPr/><p:nvPr></p:nvPr></p:nvSpPr><p:spPr><a:xfrm><a:off x="76809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1" name="Shape 9"></p:cNvPr><p:cNvSpPr/><p:nvPr></p:nvPr></p:nvSpPr><p:spPr><a:xfrm><a:off x="86410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2" name="Shape 10"></p:cNvPr><p:cNvSpPr/><p:nvPr></p:nvPr></p:nvSpPr><p:spPr><a:xfrm><a:off x="96012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3" name="Shape 11"></p:cNvPr><p:cNvSpPr/><p:nvPr></p:nvPr></p:nvSpPr><p:spPr><a:xfrm><a:off x="105613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4" name="Shape 12"></p:cNvPr><p:cNvSpPr/><p:nvPr></p:nvPr></p:nvSpPr><p:spPr><a:xfrm><a:off x="0" y="9601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5" name="Shape 13"></p:cNvPr><p:cNvSpPr/><p:nvPr></p:nvPr></p:nvSpPr><p:spPr><a:xfrm><a:off x="0" y="192024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6" name="Shape 14"></p:cNvPr><p:cNvSpPr/><p:nvPr></p:nvPr></p:nvSpPr><p:spPr><a:xfrm><a:off x="0" y="288036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7" name="Shape 15"></p:cNvPr><p:cNvSpPr/><p:nvPr></p:nvPr></p:nvSpPr><p:spPr><a:xfrm><a:off x="0" y="384048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8" name="Shape 16"></p:cNvPr><p:cNvSpPr/><p:nvPr></p:nvPr></p:nvSpPr><p:spPr><a:xfrm><a:off x="0" y="480060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9" name="Shape 17"></p:cNvPr><p:cNvSpPr/><p:nvPr></p:nvPr></p:nvSpPr><p:spPr><a:xfrm><a:off x="0" y="57607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20" name="Shape 18"></p:cNvPr><p:cNvSpPr/><p:nvPr></p:nvPr></p:nvSpPr><p:spPr><a:xfrm><a:off x="411480" y="320040"/><a:ext cx="2377440" cy="292608"/></a:xfrm><a:prstGeom prst="roundRect"><a:avLst><a:gd name="adj" fmla="val 50000"/></a:avLst></a:prstGeom><a:solidFill><a:srgbClr val="111827"/></a:solidFill><a:ln w="12700"><a:solidFill><a:srgbClr val="111827"/></a:solidFill><a:prstDash val="solid"/></a:ln></p:spPr></p:sp><p:sp><p:nvSpPr><p:cNvPr id="21" name="Text 19"></p:cNvPr><p:cNvSpPr/><p:nvPr></p:nvPr></p:nvSpPr><p:spPr><a:xfrm><a:off x="5029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HPC SYSTEMS</a:t></a:r><a:endParaRPr lang="en-US" sz="900" dirty="0"/></a:p></p:txBody></p:sp><p:sp><p:nvSpPr><p:cNvPr id="22" name="Shape 20"></p:cNvPr><p:cNvSpPr/><p:nvPr></p:nvPr></p:nvSpPr><p:spPr><a:xfrm><a:off x="2926080" y="320040"/><a:ext cx="2377440" cy="292608"/></a:xfrm><a:prstGeom prst="roundRect"><a:avLst><a:gd name="adj" fmla="val 50000"/></a:avLst></a:prstGeom><a:solidFill><a:srgbClr val="F4F0EA"/></a:solidFill><a:ln w="19050"><a:solidFill><a:srgbClr val="111827"/></a:solidFill><a:prstDash val="solid"/></a:ln></p:spPr></p:sp><p:sp><p:nvSpPr><p:cNvPr id="23" name="Text 21"></p:cNvPr><p:cNvSpPr/><p:nvPr></p:nvPr></p:nvSpPr><p:spPr><a:xfrm><a:off x="30175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RESEARCH REPRODUCTION</a:t></a:r><a:endParaRPr lang="en-US" sz="900" dirty="0"/></a:p></p:txBody></p:sp><p:sp><p:nvSpPr><p:cNvPr id="24" name="Text 22"></p:cNvPr><p:cNvSpPr/><p:nvPr></p:nvPr></p:nvSpPr><p:spPr><a:xfrm><a:off x="411480" y="914400"/><a:ext cx="6858000" cy="2377440"/></a:xfrm><a:prstGeom prst="rect"><a:avLst></a:avLst></a:prstGeom><a:noFill/><a:ln></a:ln></p:spPr><p:txBody><a:bodyPr wrap="square" rtlCol="0" anchor="ctr"></a:bodyPr><a:lstStyle/><a:p><a:pPr indent="0" marL="0"><a:lnSpc><a:spcPts val="5200"/></a:lnSpc><a:buNone/></a:pPr><a:r><a:rPr lang="en-US" sz="56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Locality-Aware</a:t></a:r><a:endParaRPr lang="en-US" sz="5600" dirty="0"/></a:p><a:p><a:pPr indent="0" marL="0"><a:lnSpc><a:spcPts val="5200"/></a:lnSpc><a:buNone/></a:pPr><a:r><a:rPr lang="en-US" sz="56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Task Scheduling</a:t></a:r><a:endParaRPr lang="en-US" sz="5600" dirty="0"/></a:p></p:txBody></p:sp><p:sp><p:nvSpPr><p:cNvPr id="25" name="Shape 23"></p:cNvPr><p:cNvSpPr/><p:nvPr></p:nvPr></p:nvSpPr><p:spPr><a:xfrm><a:off x="411480" y="3246120"/><a:ext cx="6858000" cy="777240"/></a:xfrm><a:prstGeom prst="roundRect"><a:avLst><a:gd name="adj" fmla="val 9412"/></a:avLst></a:prstGeom><a:solidFill><a:srgbClr val="FFD147"/></a:solidFill><a:ln w="31750"><a:solidFill><a:srgbClr val="111827"/></a:solidFill><a:prstDash val="solid"/></a:ln></p:spPr></p:sp><p:sp><p:nvSpPr><p:cNvPr id="26" name="Text 24"></p:cNvPr><p:cNvSpPr/><p:nvPr></p:nvPr></p:nvSpPr><p:spPr><a:xfrm><a:off x="594360" y="3291840"/><a:ext cx="6492240" cy="685800"/></a:xfrm><a:prstGeom prst="rect"><a:avLst></a:avLst></a:prstGeom><a:noFill/><a:ln></a:ln></p:spPr><p:txBody><a:bodyPr wrap="square" rtlCol="0" anchor="ctr"></a:bodyPr><a:lstStyle/><a:p><a:pPr indent="0" marL="0"><a:buNone/></a:pPr><a:r><a:rPr lang="en-US" sz="3600" b="1" spc="-2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on Heterogeneous Architectures</a:t></a:r><a:endParaRPr lang="en-US" sz="3600" dirty="0"/></a:p></p:txBody></p:sp><p:sp><p:nvSpPr><p:cNvPr id="27" name="Shape 25"></p:cNvPr><p:cNvSpPr/><p:nvPr></p:nvPr></p:nvSpPr><p:spPr><a:xfrm><a:off x="411480" y="4343400"/><a:ext cx="2286000" cy="365760"/></a:xfrm><a:prstGeom prst="roundRect"><a:avLst><a:gd name="adj" fmla="val 50000"/></a:avLst></a:prstGeom><a:solidFill><a:srgbClr val="EFEAE3"/></a:solidFill><a:ln w="19050"><a:solidFill><a:srgbClr val="111827"/></a:solidFill><a:prstDash val="solid"/></a:ln></p:spPr></p:sp><p:sp><p:nvSpPr><p:cNvPr id="28" name="Text 26"></p:cNvPr><p:cNvSpPr/><p:nvPr></p:nvPr></p:nvSpPr><p:spPr><a:xfrm><a:off x="502920" y="4343400"/><a:ext cx="2103120" cy="365760"/></a:xfrm><a:prstGeom prst="rect"><a:avLst></a:avLst></a:prstGeom><a:noFill/><a:ln></a:ln></p:spPr><p:txBody><a:bodyPr wrap="square" rtlCol="0" anchor="ctr"></a:bodyPr><a:lstStyle/><a:p><a:pPr algn="ctr" indent="0" marL="0"><a:buNone/></a:pPr><a:r><a:rPr lang="en-US" sz="110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AMD Opteron 8-Node NUMA</a:t></a:r><a:endParaRPr lang="en-US" sz="1100" dirty="0"/></a:p></p:txBody></p:sp><p:sp><p:nvSpPr><p:cNvPr id="29" name="Shape 27"></p:cNvPr><p:cNvSpPr/><p:nvPr></p:nvPr></p:nvSpPr><p:spPr><a:xfrm><a:off x="2880360" y="4343400"/><a:ext cx="2286000" cy="365760"/></a:xfrm><a:prstGeom prst="roundRect"><a:avLst><a:gd name="adj" fmla="val 50000"/></a:avLst></a:prstGeom><a:solidFill><a:srgbClr val="EFEAE3"/></a:solidFill><a:ln w="19050"><a:solidFill><a:srgbClr val="111827"/></a:solidFill><a:prstDash val="solid"/></a:ln></p:spPr></p:sp><p:sp><p:nvSpPr><p:cNvPr id="30" name="Text 28"></p:cNvPr><p:cNvSpPr/><p:nvPr></p:nvPr></p:nvSpPr><p:spPr><a:xfrm><a:off x="2971800" y="4343400"/><a:ext cx="2103120" cy="365760"/></a:xfrm><a:prstGeom prst="rect"><a:avLst></a:avLst></a:prstGeom><a:noFill/><a:ln></a:ln></p:spPr><p:txBody><a:bodyPr wrap="square" rtlCol="0" anchor="ctr"></a:bodyPr><a:lstStyle/><a:p><a:pPr algn="ctr" indent="0" marL="0"><a:buNone/></a:pPr><a:r><a:rPr lang="en-US" sz="110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TILEPro64 8×8 Mesh</a:t></a:r><a:endParaRPr lang="en-US" sz="1100" dirty="0"/></a:p></p:txBody></p:sp><p:sp><p:nvSpPr><p:cNvPr id="31" name="Shape 29"></p:cNvPr><p:cNvSpPr/><p:nvPr></p:nvPr></p:nvSpPr><p:spPr><a:xfrm><a:off x="5349240" y="4343400"/><a:ext cx="2286000" cy="365760"/></a:xfrm><a:prstGeom prst="roundRect"><a:avLst><a:gd name="adj" fmla="val 50000"/></a:avLst></a:prstGeom><a:solidFill><a:srgbClr val="EFEAE3"/></a:solidFill><a:ln w="19050"><a:solidFill><a:srgbClr val="111827"/></a:solidFill><a:prstDash val="solid"/></a:ln></p:spPr></p:sp><p:sp><p:nvSpPr><p:cNvPr id="32" name="Text 30"></p:cNvPr><p:cNvSpPr/><p:nvPr></p:nvPr></p:nvSpPr><p:spPr><a:xfrm><a:off x="5440680" y="4343400"/><a:ext cx="2103120" cy="365760"/></a:xfrm><a:prstGeom prst="rect"><a:avLst></a:avLst></a:prstGeom><a:noFill/><a:ln></a:ln></p:spPr><p:txBody><a:bodyPr wrap="square" rtlCol="0" anchor="ctr"></a:bodyPr><a:lstStyle/><a:p><a:pPr algn="ctr" indent="0" marL="0"><a:buNone/></a:pPr><a:r><a:rPr lang="en-US" sz="110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NOVA / ALLoC</a:t></a:r><a:endParaRPr lang="en-US" sz="1100" dirty="0"/></a:p></p:txBody></p:sp><p:sp><p:nvSpPr><p:cNvPr id="33" name="Shape 31"></p:cNvPr><p:cNvSpPr/><p:nvPr></p:nvPr></p:nvSpPr><p:spPr><a:xfrm><a:off x="8229600" y="914400"/><a:ext cx="3474720" cy="3657600"/></a:xfrm><a:prstGeom prst="roundRect"><a:avLst><a:gd name="adj" fmla="val 2632"/></a:avLst></a:prstGeom><a:solidFill><a:srgbClr val="EFEAE3"/></a:solidFill><a:ln w="25400"><a:solidFill><a:srgbClr val="111827"/></a:solidFill><a:prstDash val="solid"/></a:ln></p:spPr></p:sp><p:sp><p:nvSpPr><p:cNvPr id="34" name="Text 32"></p:cNvPr><p:cNvSpPr/><p:nvPr></p:nvPr></p:nvSpPr><p:spPr><a:xfrm><a:off x="8366760" y="1051560"/><a:ext cx="3200400" cy="274320"/></a:xfrm><a:prstGeom prst="rect"><a:avLst></a:avLst></a:prstGeom><a:noFill/><a:ln></a:ln></p:spPr><p:txBody><a:bodyPr wrap="square" rtlCol="0" anchor="ctr"></a:bodyPr><a:lstStyle/><a:p><a:pPr indent="0" marL="0"><a:buNone/></a:pPr><a:r><a:rPr lang="en-US" sz="1000" b="1" spc="200" kern="0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DUAL ARCHITECTURE</a:t></a:r><a:endParaRPr lang="en-US" sz="1000" dirty="0"/></a:p></p:txBody></p:sp><p:sp><p:nvSpPr><p:cNvPr id="35" name="Shape 33"></p:cNvPr><p:cNvSpPr/><p:nvPr></p:nvPr></p:nvSpPr><p:spPr><a:xfrm><a:off x="8503920" y="1645920"/><a:ext cx="914400" cy="640080"/></a:xfrm><a:prstGeom prst="ellipse"><a:avLst></a:avLst></a:prstGeom><a:solidFill><a:srgbClr val="111827"/></a:solidFill><a:ln w="12700"><a:solidFill><a:srgbClr val="111827"/></a:solidFill><a:prstDash val="solid"/></a:ln></p:spPr></p:sp><p:sp><p:nvSpPr><p:cNvPr id="36" name="Text 34"></p:cNvPr><p:cNvSpPr/><p:nvPr></p:nvPr></p:nvSpPr><p:spPr><a:xfrm><a:off x="8503920" y="1737360"/><a:ext cx="914400" cy="45720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NUMA</a:t></a:r><a:endParaRPr lang="en-US" sz="900" dirty="0"/></a:p><a:p><a:pPr algn="ctr" indent="0" marL="0"><a:buNone/></a:pPr><a:r><a:rPr lang="en-US" sz="900" b="1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8-node</a:t></a:r><a:endParaRPr lang="en-US" sz="900" dirty="0"/></a:p></p:txBody></p:sp><p:sp><p:nvSpPr><p:cNvPr id="37" name="Shape 35"></p:cNvPr><p:cNvSpPr/><p:nvPr></p:nvPr></p:nvSpPr><p:spPr><a:xfrm><a:off x="10058400" y="1645920"/><a:ext cx="1371600" cy="914400"/></a:xfrm><a:prstGeom prst="rect"><a:avLst></a:avLst></a:prstGeom><a:solidFill><a:srgbClr val="F4F0EA"/></a:solidFill><a:ln w="19050"><a:solidFill><a:srgbClr val="111827"/></a:solidFill><a:prstDash val="solid"/></a:ln></p:spPr></p:sp><p:sp><p:nvSpPr><p:cNvPr id="38" name="Text 36"></p:cNvPr><p:cNvSpPr/><p:nvPr></p:nvPr></p:nvSpPr><p:spPr><a:xfrm><a:off x="10058400" y="1828800"/><a:ext cx="1371600" cy="54864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MESH</a:t></a:r><a:endParaRPr lang="en-US" sz="900" dirty="0"/></a:p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8×8</a:t></a:r><a:endParaRPr lang="en-US" sz="900" dirty="0"/></a:p></p:txBody></p:sp><p:sp><p:nvSpPr><p:cNvPr id="39" name="Text 37"></p:cNvPr><p:cNvSpPr/><p:nvPr></p:nvPr></p:nvSpPr><p:spPr><a:xfrm><a:off x="8503920" y="2926080"/><a:ext cx="2926080" cy="36576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Local ~40 cyc  ·  Remote 240–340 cyc</a:t></a:r><a:endParaRPr lang="en-US" sz="1000" dirty="0"/></a:p></p:txBody></p:sp><p:sp><p:nvSpPr><p:cNvPr id="40" name="Text 38"></p:cNvPr><p:cNvSpPr/><p:nvPr></p:nvPr></p:nvSpPr><p:spPr><a:xfrm><a:off x="8503920" y="3383280"/><a:ext cx="2926080" cy="36576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Local 10 cyc  ·  Remote 38+2·h cyc</a:t></a:r><a:endParaRPr lang="en-US" sz="1000" dirty="0"/></a:p></p:txBody></p:sp><p:sp><p:nvSpPr><p:cNvPr id="41" name="Text 39"></p:cNvPr><p:cNvSpPr/><p:nvPr></p:nvPr></p:nvSpPr><p:spPr><a:xfrm><a:off x="411480" y="5486400"/><a:ext cx="7498080" cy="640080"/></a:xfrm><a:prstGeom prst="rect"><a:avLst></a:avLst></a:prstGeom><a:noFill/><a:ln></a:ln></p:spPr><p:txBody><a:bodyPr wrap="square" rtlCol="0" anchor="ctr"></a:bodyPr><a:lstStyle/><a:p><a:pPr indent="0" marL="0"><a:buNone/></a:pPr><a:r><a:rPr lang="en-US" sz="1300" i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Reproducing Muddukrishna et al. (Scientific Programming 2015) — uncovering the SparseLU paradox and delivering NOVA co-scheduling.</a:t></a:r><a:endParaRPr lang="en-US" sz="1300" dirty="0"/></a:p></p:txBody></p:sp><p:sp><p:nvSpPr><p:cNvPr id="42" name="Text 40"></p:cNvPr><p:cNvSpPr/><p:nvPr></p:nvPr></p:nvSpPr><p:spPr><a:xfrm><a:off x="411480" y="6537960"/><a:ext cx="11338560" cy="18288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6B6B6B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Locality-Aware Task Scheduling on Heterogeneous HPC Architectures  ·  01 / 05</a:t></a:r><a:endParaRPr lang="en-US" sz="900" dirty="0"/></a:p></p:txBody></p:sp></p:spTree></p:cSld><p:clrMapOvr><a:masterClrMapping/></p:clrMapOvr>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1695" cy="6858000"/></a:xfrm><a:prstGeom prst="rect"><a:avLst></a:avLst></a:prstGeom><a:solidFill><a:srgbClr val="F4F0EA"/></a:solidFill><a:ln w="12700"><a:solidFill><a:srgbClr val="F4F0EA"/></a:solidFill><a:prstDash val="solid"/></a:ln></p:spPr></p:sp><p:sp><p:nvSpPr><p:cNvPr id="3" name="Shape 1"></p:cNvPr><p:cNvSpPr/><p:nvPr></p:nvPr></p:nvSpPr><p:spPr><a:xfrm><a:off x="9601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4" name="Shape 2"></p:cNvPr><p:cNvSpPr/><p:nvPr></p:nvPr></p:nvSpPr><p:spPr><a:xfrm><a:off x="19202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5" name="Shape 3"></p:cNvPr><p:cNvSpPr/><p:nvPr></p:nvPr></p:nvSpPr><p:spPr><a:xfrm><a:off x="28803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6" name="Shape 4"></p:cNvPr><p:cNvSpPr/><p:nvPr></p:nvPr></p:nvSpPr><p:spPr><a:xfrm><a:off x="38404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7" name="Shape 5"></p:cNvPr><p:cNvSpPr/><p:nvPr></p:nvPr></p:nvSpPr><p:spPr><a:xfrm><a:off x="48006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8" name="Shape 6"></p:cNvPr><p:cNvSpPr/><p:nvPr></p:nvPr></p:nvSpPr><p:spPr><a:xfrm><a:off x="57607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9" name="Shape 7"></p:cNvPr><p:cNvSpPr/><p:nvPr></p:nvPr></p:nvSpPr><p:spPr><a:xfrm><a:off x="67208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0" name="Shape 8"></p:cNvPr><p:cNvSpPr/><p:nvPr></p:nvPr></p:nvSpPr><p:spPr><a:xfrm><a:off x="76809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1" name="Shape 9"></p:cNvPr><p:cNvSpPr/><p:nvPr></p:nvPr></p:nvSpPr><p:spPr><a:xfrm><a:off x="86410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2" name="Shape 10"></p:cNvPr><p:cNvSpPr/><p:nvPr></p:nvPr></p:nvSpPr><p:spPr><a:xfrm><a:off x="96012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3" name="Shape 11"></p:cNvPr><p:cNvSpPr/><p:nvPr></p:nvPr></p:nvSpPr><p:spPr><a:xfrm><a:off x="105613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4" name="Shape 12"></p:cNvPr><p:cNvSpPr/><p:nvPr></p:nvPr></p:nvSpPr><p:spPr><a:xfrm><a:off x="0" y="9601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5" name="Shape 13"></p:cNvPr><p:cNvSpPr/><p:nvPr></p:nvPr></p:nvSpPr><p:spPr><a:xfrm><a:off x="0" y="192024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6" name="Shape 14"></p:cNvPr><p:cNvSpPr/><p:nvPr></p:nvPr></p:nvSpPr><p:spPr><a:xfrm><a:off x="0" y="288036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7" name="Shape 15"></p:cNvPr><p:cNvSpPr/><p:nvPr></p:nvPr></p:nvSpPr><p:spPr><a:xfrm><a:off x="0" y="384048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8" name="Shape 16"></p:cNvPr><p:cNvSpPr/><p:nvPr></p:nvPr></p:nvSpPr><p:spPr><a:xfrm><a:off x="0" y="480060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9" name="Shape 17"></p:cNvPr><p:cNvSpPr/><p:nvPr></p:nvPr></p:nvSpPr><p:spPr><a:xfrm><a:off x="0" y="57607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20" name="Shape 18"></p:cNvPr><p:cNvSpPr/><p:nvPr></p:nvPr></p:nvSpPr><p:spPr><a:xfrm><a:off x="411480" y="320040"/><a:ext cx="2377440" cy="292608"/></a:xfrm><a:prstGeom prst="roundRect"><a:avLst><a:gd name="adj" fmla="val 50000"/></a:avLst></a:prstGeom><a:solidFill><a:srgbClr val="111827"/></a:solidFill><a:ln w="12700"><a:solidFill><a:srgbClr val="111827"/></a:solidFill><a:prstDash val="solid"/></a:ln></p:spPr></p:sp><p:sp><p:nvSpPr><p:cNvPr id="21" name="Text 19"></p:cNvPr><p:cNvSpPr/><p:nvPr></p:nvPr></p:nvSpPr><p:spPr><a:xfrm><a:off x="5029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PART 01</a:t></a:r><a:endParaRPr lang="en-US" sz="900" dirty="0"/></a:p></p:txBody></p:sp><p:sp><p:nvSpPr><p:cNvPr id="22" name="Text 20"></p:cNvPr><p:cNvSpPr/><p:nvPr></p:nvPr></p:nvSpPr><p:spPr><a:xfrm><a:off x="411480" y="822960"/><a:ext cx="10972800" cy="822960"/></a:xfrm><a:prstGeom prst="rect"><a:avLst></a:avLst></a:prstGeom><a:noFill/><a:ln></a:ln></p:spPr><p:txBody><a:bodyPr wrap="square" rtlCol="0" anchor="ctr"></a:bodyPr><a:lstStyle/><a:p><a:pPr indent="0" marL="0"><a:buNone/></a:pPr><a:r><a:rPr lang="en-US" sz="48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Two Memory Models,</a:t></a:r><a:endParaRPr lang="en-US" sz="4800" dirty="0"/></a:p></p:txBody></p:sp><p:sp><p:nvSpPr><p:cNvPr id="23" name="Shape 21"></p:cNvPr><p:cNvSpPr/><p:nvPr></p:nvPr></p:nvSpPr><p:spPr><a:xfrm><a:off x="5394960" y="1554480"/><a:ext cx="6035040" cy="640080"/></a:xfrm><a:prstGeom prst="roundRect"><a:avLst><a:gd name="adj" fmla="val 14286"/></a:avLst></a:prstGeom><a:solidFill><a:srgbClr val="FFD147"/></a:solidFill><a:ln w="31750"><a:solidFill><a:srgbClr val="111827"/></a:solidFill><a:prstDash val="solid"/></a:ln></p:spPr></p:sp><p:sp><p:nvSpPr><p:cNvPr id="24" name="Text 22"></p:cNvPr><p:cNvSpPr/><p:nvPr></p:nvPr></p:nvSpPr><p:spPr><a:xfrm><a:off x="5486400" y="1600200"/><a:ext cx="5852160" cy="548640"/></a:xfrm><a:prstGeom prst="rect"><a:avLst></a:avLst></a:prstGeom><a:noFill/><a:ln></a:ln></p:spPr><p:txBody><a:bodyPr wrap="square" rtlCol="0" anchor="ctr"></a:bodyPr><a:lstStyle/><a:p><a:pPr indent="0" marL="0"><a:buNone/></a:pPr><a:r><a:rPr lang="en-US" sz="3600" b="1" spc="-2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Two Latency Cliffs</a:t></a:r><a:endParaRPr lang="en-US" sz="3600" dirty="0"/></a:p></p:txBody></p:sp><p:sp><p:nvSpPr><p:cNvPr id="25" name="Text 23"></p:cNvPr><p:cNvSpPr/><p:nvPr></p:nvPr></p:nvSpPr><p:spPr><a:xfrm><a:off x="411480" y="2377440"/><a:ext cx="10972800" cy="365760"/></a:xfrm><a:prstGeom prst="rect"><a:avLst></a:avLst></a:prstGeom><a:noFill/><a:ln></a:ln></p:spPr><p:txBody><a:bodyPr wrap="square" rtlCol="0" anchor="ctr"></a:bodyPr><a:lstStyle/><a:p><a:pPr indent="0" marL="0"><a:buNone/></a:pPr><a:r><a:rPr lang="en-US" sz="1400" i="1" dirty="0"><a:solidFill><a:srgbClr val="4B5563"/></a:solidFill><a:latin typeface="Inter, "Segoe UI", sans-serif" pitchFamily="34" charset="0"/><a:ea typeface="Inter, "Segoe UI", sans-serif" pitchFamily="34" charset="-122"/><a:cs typeface="Inter, "Segoe UI", sans-serif" pitchFamily="34" charset="-120"/></a:rPr><a:t>Discrete socket memory hierarchies vs. distributed shared L2 cache on an 8×8 mesh</a:t></a:r><a:endParaRPr lang="en-US" sz="1400" dirty="0"/></a:p></p:txBody></p:sp><p:sp><p:nvSpPr><p:cNvPr id="26" name="Shape 24"></p:cNvPr><p:cNvSpPr/><p:nvPr></p:nvPr></p:nvSpPr><p:spPr><a:xfrm><a:off x="411480" y="2880360"/><a:ext cx="5394960" cy="3108960"/></a:xfrm><a:prstGeom prst="roundRect"><a:avLst><a:gd name="adj" fmla="val 2353"/></a:avLst></a:prstGeom><a:solidFill><a:srgbClr val="F4F0EA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27" name="Text 25"></p:cNvPr><p:cNvSpPr/><p:nvPr></p:nvPr></p:nvSpPr><p:spPr><a:xfrm><a:off x="685800" y="3017520"/><a:ext cx="4846320" cy="365760"/></a:xfrm><a:prstGeom prst="rect"><a:avLst></a:avLst></a:prstGeom><a:noFill/><a:ln></a:ln></p:spPr><p:txBody><a:bodyPr wrap="square" rtlCol="0" anchor="ctr"></a:bodyPr><a:lstStyle/><a:p><a:pPr indent="0" marL="0"><a:buNone/></a:pPr><a:r><a:rPr lang="en-US" sz="20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AMD Opteron 8-Node NUMA</a:t></a:r><a:endParaRPr lang="en-US" sz="2000" dirty="0"/></a:p></p:txBody></p:sp><p:sp><p:nvSpPr><p:cNvPr id="28" name="Text 26"></p:cNvPr><p:cNvSpPr/><p:nvPr></p:nvPr></p:nvSpPr><p:spPr><a:xfrm><a:off x="685800" y="3429000"/><a:ext cx="4846320" cy="274320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374151"/></a:solidFill><a:latin typeface="Inter, "Segoe UI", sans-serif" pitchFamily="34" charset="0"/><a:ea typeface="Inter, "Segoe UI", sans-serif" pitchFamily="34" charset="-122"/><a:cs typeface="Inter, "Segoe UI", sans-serif" pitchFamily="34" charset="-120"/></a:rPr><a:t>HyperTransport Interconnect  ·  3–6 cores/node  ·  First-touch allocation</a:t></a:r><a:endParaRPr lang="en-US" sz="1100" dirty="0"/></a:p></p:txBody></p:sp><p:sp><p:nvSpPr><p:cNvPr id="29" name="Shape 27"></p:cNvPr><p:cNvSpPr/><p:nvPr></p:nvPr></p:nvSpPr><p:spPr><a:xfrm><a:off x="685800" y="3794760"/><a:ext cx="4846320" cy="292608"/></a:xfrm><a:prstGeom prst="roundRect"><a:avLst><a:gd name="adj" fmla="val 18750"/></a:avLst></a:prstGeom><a:solidFill><a:srgbClr val="EFEAE3"/></a:solidFill><a:ln w="12700"><a:solidFill><a:srgbClr val="DDD8CF"/></a:solidFill><a:prstDash val="solid"/></a:ln></p:spPr></p:sp><p:sp><p:nvSpPr><p:cNvPr id="30" name="Text 28"></p:cNvPr><p:cNvSpPr/><p:nvPr></p:nvPr></p:nvSpPr><p:spPr><a:xfrm><a:off x="822960" y="3794760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Topology: 8 sockets · 24–48 cores total</a:t></a:r><a:endParaRPr lang="en-US" sz="1100" dirty="0"/></a:p></p:txBody></p:sp><p:sp><p:nvSpPr><p:cNvPr id="31" name="Shape 29"></p:cNvPr><p:cNvSpPr/><p:nvPr></p:nvPr></p:nvSpPr><p:spPr><a:xfrm><a:off x="685800" y="4178808"/><a:ext cx="4846320" cy="292608"/></a:xfrm><a:prstGeom prst="roundRect"><a:avLst><a:gd name="adj" fmla="val 18750"/></a:avLst></a:prstGeom><a:solidFill><a:srgbClr val="EFEAE3"/></a:solidFill><a:ln w="12700"><a:solidFill><a:srgbClr val="DDD8CF"/></a:solidFill><a:prstDash val="solid"/></a:ln></p:spPr></p:sp><p:sp><p:nvSpPr><p:cNvPr id="32" name="Text 30"></p:cNvPr><p:cNvSpPr/><p:nvPr></p:nvPr></p:nvSpPr><p:spPr><a:xfrm><a:off x="822960" y="4178808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Local DRAM: ~40 CPU cycles (integrated IMC)</a:t></a:r><a:endParaRPr lang="en-US" sz="1100" dirty="0"/></a:p></p:txBody></p:sp><p:sp><p:nvSpPr><p:cNvPr id="33" name="Shape 31"></p:cNvPr><p:cNvSpPr/><p:nvPr></p:nvPr></p:nvSpPr><p:spPr><a:xfrm><a:off x="685800" y="4562856"/><a:ext cx="4846320" cy="292608"/></a:xfrm><a:prstGeom prst="roundRect"><a:avLst><a:gd name="adj" fmla="val 18750"/></a:avLst></a:prstGeom><a:solidFill><a:srgbClr val="EFEAE3"/></a:solidFill><a:ln w="12700"><a:solidFill><a:srgbClr val="DDD8CF"/></a:solidFill><a:prstDash val="solid"/></a:ln></p:spPr></p:sp><p:sp><p:nvSpPr><p:cNvPr id="34" name="Text 32"></p:cNvPr><p:cNvSpPr/><p:nvPr></p:nvPr></p:nvSpPr><p:spPr><a:xfrm><a:off x="822960" y="4562856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Remote Bus: 240–340 CPU cycles (6×–8× stall)</a:t></a:r><a:endParaRPr lang="en-US" sz="1100" dirty="0"/></a:p></p:txBody></p:sp><p:sp><p:nvSpPr><p:cNvPr id="35" name="Shape 33"></p:cNvPr><p:cNvSpPr/><p:nvPr></p:nvPr></p:nvSpPr><p:spPr><a:xfrm><a:off x="685800" y="4946904"/><a:ext cx="4846320" cy="292608"/></a:xfrm><a:prstGeom prst="roundRect"><a:avLst><a:gd name="adj" fmla="val 18750"/></a:avLst></a:prstGeom><a:solidFill><a:srgbClr val="EFEAE3"/></a:solidFill><a:ln w="12700"><a:solidFill><a:srgbClr val="DDD8CF"/></a:solidFill><a:prstDash val="solid"/></a:ln></p:spPr></p:sp><p:sp><p:nvSpPr><p:cNvPr id="36" name="Text 34"></p:cNvPr><p:cNvSpPr/><p:nvPr></p:nvPr></p:nvSpPr><p:spPr><a:xfrm><a:off x="822960" y="4946904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Diameter: 3 hops max  ·  Failure: bus saturation</a:t></a:r><a:endParaRPr lang="en-US" sz="1100" dirty="0"/></a:p></p:txBody></p:sp><p:sp><p:nvSpPr><p:cNvPr id="37" name="Shape 35"></p:cNvPr><p:cNvSpPr/><p:nvPr></p:nvPr></p:nvSpPr><p:spPr><a:xfrm><a:off x="6217920" y="2880360"/><a:ext cx="5394960" cy="3108960"/></a:xfrm><a:prstGeom prst="roundRect"><a:avLst><a:gd name="adj" fmla="val 2353"/></a:avLst></a:prstGeom><a:solidFill><a:srgbClr val="111827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38" name="Text 36"></p:cNvPr><p:cNvSpPr/><p:nvPr></p:nvPr></p:nvSpPr><p:spPr><a:xfrm><a:off x="6492240" y="3017520"/><a:ext cx="4846320" cy="365760"/></a:xfrm><a:prstGeom prst="rect"><a:avLst></a:avLst></a:prstGeom><a:noFill/><a:ln></a:ln></p:spPr><p:txBody><a:bodyPr wrap="square" rtlCol="0" anchor="ctr"></a:bodyPr><a:lstStyle/><a:p><a:pPr indent="0" marL="0"><a:buNone/></a:pPr><a:r><a:rPr lang="en-US" sz="2000" b="1" dirty="0"><a:solidFill><a:srgbClr val="FFD14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TILEPro64 8×8 Mesh</a:t></a:r><a:endParaRPr lang="en-US" sz="2000" dirty="0"/></a:p></p:txBody></p:sp><p:sp><p:nvSpPr><p:cNvPr id="39" name="Text 37"></p:cNvPr><p:cNvSpPr/><p:nvPr></p:nvPr></p:nvSpPr><p:spPr><a:xfrm><a:off x="6492240" y="3429000"/><a:ext cx="4846320" cy="274320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AAB2C7"/></a:solidFill><a:latin typeface="Inter, "Segoe UI", sans-serif" pitchFamily="34" charset="0"/><a:ea typeface="Inter, "Segoe UI", sans-serif" pitchFamily="34" charset="-122"/><a:cs typeface="Inter, "Segoe UI", sans-serif" pitchFamily="34" charset="-120"/></a:rPr><a:t>Manhattan hop distance  ·  64 tiles  ·  2D dynamic mesh</a:t></a:r><a:endParaRPr lang="en-US" sz="1100" dirty="0"/></a:p></p:txBody></p:sp><p:sp><p:nvSpPr><p:cNvPr id="40" name="Shape 38"></p:cNvPr><p:cNvSpPr/><p:nvPr></p:nvPr></p:nvSpPr><p:spPr><a:xfrm><a:off x="6492240" y="3794760"/><a:ext cx="4846320" cy="292608"/></a:xfrm><a:prstGeom prst="roundRect"><a:avLst><a:gd name="adj" fmla="val 18750"/></a:avLst></a:prstGeom><a:solidFill><a:srgbClr val="1A2230"/></a:solidFill><a:ln w="12700"><a:solidFill><a:srgbClr val="334155"/></a:solidFill><a:prstDash val="solid"/></a:ln></p:spPr></p:sp><p:sp><p:nvSpPr><p:cNvPr id="41" name="Text 39"></p:cNvPr><p:cNvSpPr/><p:nvPr></p:nvPr></p:nvSpPr><p:spPr><a:xfrm><a:off x="6629400" y="3794760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Topology: 8×8 grid · 1 VLIW core per tile</a:t></a:r><a:endParaRPr lang="en-US" sz="1100" dirty="0"/></a:p></p:txBody></p:sp><p:sp><p:nvSpPr><p:cNvPr id="42" name="Shape 40"></p:cNvPr><p:cNvSpPr/><p:nvPr></p:nvPr></p:nvSpPr><p:spPr><a:xfrm><a:off x="6492240" y="4178808"/><a:ext cx="4846320" cy="292608"/></a:xfrm><a:prstGeom prst="roundRect"><a:avLst><a:gd name="adj" fmla="val 18750"/></a:avLst></a:prstGeom><a:solidFill><a:srgbClr val="1A2230"/></a:solidFill><a:ln w="12700"><a:solidFill><a:srgbClr val="334155"/></a:solidFill><a:prstDash val="solid"/></a:ln></p:spPr></p:sp><p:sp><p:nvSpPr><p:cNvPr id="43" name="Text 41"></p:cNvPr><p:cNvSpPr/><p:nvPr></p:nvPr></p:nvSpPr><p:spPr><a:xfrm><a:off x="6629400" y="4178808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Local L2: 10 cycles  ·  Remote: 38 + 2·h</a:t></a:r><a:endParaRPr lang="en-US" sz="1100" dirty="0"/></a:p></p:txBody></p:sp><p:sp><p:nvSpPr><p:cNvPr id="44" name="Shape 42"></p:cNvPr><p:cNvSpPr/><p:nvPr></p:nvPr></p:nvSpPr><p:spPr><a:xfrm><a:off x="6492240" y="4562856"/><a:ext cx="4846320" cy="292608"/></a:xfrm><a:prstGeom prst="roundRect"><a:avLst><a:gd name="adj" fmla="val 18750"/></a:avLst></a:prstGeom><a:solidFill><a:srgbClr val="1A2230"/></a:solidFill><a:ln w="12700"><a:solidFill><a:srgbClr val="334155"/></a:solidFill><a:prstDash val="solid"/></a:ln></p:spPr></p:sp><p:sp><p:nvSpPr><p:cNvPr id="45" name="Text 43"></p:cNvPr><p:cNvSpPr/><p:nvPr></p:nvPr></p:nvSpPr><p:spPr><a:xfrm><a:off x="6629400" y="4562856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Diameter: 14 hops = 66 cycles (opposite corner)</a:t></a:r><a:endParaRPr lang="en-US" sz="1100" dirty="0"/></a:p></p:txBody></p:sp><p:sp><p:nvSpPr><p:cNvPr id="46" name="Shape 44"></p:cNvPr><p:cNvSpPr/><p:nvPr></p:nvPr></p:nvSpPr><p:spPr><a:xfrm><a:off x="6492240" y="4946904"/><a:ext cx="4846320" cy="292608"/></a:xfrm><a:prstGeom prst="roundRect"><a:avLst><a:gd name="adj" fmla="val 18750"/></a:avLst></a:prstGeom><a:solidFill><a:srgbClr val="1A2230"/></a:solidFill><a:ln w="12700"><a:solidFill><a:srgbClr val="334155"/></a:solidFill><a:prstDash val="solid"/></a:ln></p:spPr></p:sp><p:sp><p:nvSpPr><p:cNvPr id="47" name="Text 45"></p:cNvPr><p:cNvSpPr/><p:nvPr></p:nvPr></p:nvSpPr><p:spPr><a:xfrm><a:off x="6629400" y="4946904"/><a:ext cx="4572000" cy="292608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Failure: center bisection contention / home trap</a:t></a:r><a:endParaRPr lang="en-US" sz="1100" dirty="0"/></a:p></p:txBody></p:sp><p:sp><p:nvSpPr><p:cNvPr id="48" name="Shape 46"></p:cNvPr><p:cNvSpPr/><p:nvPr></p:nvPr></p:nvSpPr><p:spPr><a:xfrm><a:off x="411480" y="5989320"/><a:ext cx="11338560" cy="502920"/></a:xfrm><a:prstGeom prst="roundRect"><a:avLst><a:gd name="adj" fmla="val 10909"/></a:avLst></a:prstGeom><a:solidFill><a:srgbClr val="111827"/></a:solidFill><a:ln w="19050"><a:solidFill><a:srgbClr val="111827"/></a:solidFill><a:prstDash val="solid"/></a:ln></p:spPr></p:sp><p:sp><p:nvSpPr><p:cNvPr id="49" name="Text 47"></p:cNvPr><p:cNvSpPr/><p:nvPr></p:nvPr></p:nvSpPr><p:spPr><a:xfrm><a:off x="685800" y="6035040"/><a:ext cx="10789920" cy="411480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cost(X) = Σ (D[i] / line_size) × latency(X, i)  ·  locality dealing cuts stalls up to 80% — but starves idle cores when backlog is ignored!</a:t></a:r><a:endParaRPr lang="en-US" sz="1100" dirty="0"/></a:p></p:txBody></p:sp><p:sp><p:nvSpPr><p:cNvPr id="50" name="Text 48"></p:cNvPr><p:cNvSpPr/><p:nvPr></p:nvPr></p:nvSpPr><p:spPr><a:xfrm><a:off x="411480" y="6537960"/><a:ext cx="11338560" cy="18288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6B6B6B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Locality-Aware Task Scheduling · Hardware Topology &amp; Latency Models  ·  02 / 05</a:t></a:r><a:endParaRPr lang="en-US" sz="900" dirty="0"/></a:p></p:txBody></p:sp></p:spTree></p:cSld><p:clrMapOvr><a:masterClrMapping/></p:clrMapOvr></p:sld>
</file>

<file path=ppt/slides/slide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3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1695" cy="6858000"/></a:xfrm><a:prstGeom prst="rect"><a:avLst></a:avLst></a:prstGeom><a:solidFill><a:srgbClr val="F4F0EA"/></a:solidFill><a:ln w="12700"><a:solidFill><a:srgbClr val="F4F0EA"/></a:solidFill><a:prstDash val="solid"/></a:ln></p:spPr></p:sp><p:sp><p:nvSpPr><p:cNvPr id="3" name="Shape 1"></p:cNvPr><p:cNvSpPr/><p:nvPr></p:nvPr></p:nvSpPr><p:spPr><a:xfrm><a:off x="9601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4" name="Shape 2"></p:cNvPr><p:cNvSpPr/><p:nvPr></p:nvPr></p:nvSpPr><p:spPr><a:xfrm><a:off x="19202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5" name="Shape 3"></p:cNvPr><p:cNvSpPr/><p:nvPr></p:nvPr></p:nvSpPr><p:spPr><a:xfrm><a:off x="28803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6" name="Shape 4"></p:cNvPr><p:cNvSpPr/><p:nvPr></p:nvPr></p:nvSpPr><p:spPr><a:xfrm><a:off x="38404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7" name="Shape 5"></p:cNvPr><p:cNvSpPr/><p:nvPr></p:nvPr></p:nvSpPr><p:spPr><a:xfrm><a:off x="48006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8" name="Shape 6"></p:cNvPr><p:cNvSpPr/><p:nvPr></p:nvPr></p:nvSpPr><p:spPr><a:xfrm><a:off x="57607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9" name="Shape 7"></p:cNvPr><p:cNvSpPr/><p:nvPr></p:nvPr></p:nvSpPr><p:spPr><a:xfrm><a:off x="67208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0" name="Shape 8"></p:cNvPr><p:cNvSpPr/><p:nvPr></p:nvPr></p:nvSpPr><p:spPr><a:xfrm><a:off x="76809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1" name="Shape 9"></p:cNvPr><p:cNvSpPr/><p:nvPr></p:nvPr></p:nvSpPr><p:spPr><a:xfrm><a:off x="86410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2" name="Shape 10"></p:cNvPr><p:cNvSpPr/><p:nvPr></p:nvPr></p:nvSpPr><p:spPr><a:xfrm><a:off x="96012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3" name="Shape 11"></p:cNvPr><p:cNvSpPr/><p:nvPr></p:nvPr></p:nvSpPr><p:spPr><a:xfrm><a:off x="105613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4" name="Shape 12"></p:cNvPr><p:cNvSpPr/><p:nvPr></p:nvPr></p:nvSpPr><p:spPr><a:xfrm><a:off x="0" y="9601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5" name="Shape 13"></p:cNvPr><p:cNvSpPr/><p:nvPr></p:nvPr></p:nvSpPr><p:spPr><a:xfrm><a:off x="0" y="192024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6" name="Shape 14"></p:cNvPr><p:cNvSpPr/><p:nvPr></p:nvPr></p:nvSpPr><p:spPr><a:xfrm><a:off x="0" y="288036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7" name="Shape 15"></p:cNvPr><p:cNvSpPr/><p:nvPr></p:nvPr></p:nvSpPr><p:spPr><a:xfrm><a:off x="0" y="384048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8" name="Shape 16"></p:cNvPr><p:cNvSpPr/><p:nvPr></p:nvPr></p:nvSpPr><p:spPr><a:xfrm><a:off x="0" y="480060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9" name="Shape 17"></p:cNvPr><p:cNvSpPr/><p:nvPr></p:nvPr></p:nvSpPr><p:spPr><a:xfrm><a:off x="0" y="57607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20" name="Shape 18"></p:cNvPr><p:cNvSpPr/><p:nvPr></p:nvPr></p:nvSpPr><p:spPr><a:xfrm><a:off x="411480" y="320040"/><a:ext cx="2377440" cy="292608"/></a:xfrm><a:prstGeom prst="roundRect"><a:avLst><a:gd name="adj" fmla="val 50000"/></a:avLst></a:prstGeom><a:solidFill><a:srgbClr val="111827"/></a:solidFill><a:ln w="12700"><a:solidFill><a:srgbClr val="111827"/></a:solidFill><a:prstDash val="solid"/></a:ln></p:spPr></p:sp><p:sp><p:nvSpPr><p:cNvPr id="21" name="Text 19"></p:cNvPr><p:cNvSpPr/><p:nvPr></p:nvPr></p:nvSpPr><p:spPr><a:xfrm><a:off x="5029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PART 02</a:t></a:r><a:endParaRPr lang="en-US" sz="900" dirty="0"/></a:p></p:txBody></p:sp><p:sp><p:nvSpPr><p:cNvPr id="22" name="Text 20"></p:cNvPr><p:cNvSpPr/><p:nvPr></p:nvPr></p:nvSpPr><p:spPr><a:xfrm><a:off x="411480" y="777240"/><a:ext cx="10972800" cy="640080"/></a:xfrm><a:prstGeom prst="rect"><a:avLst></a:avLst></a:prstGeom><a:noFill/><a:ln></a:ln></p:spPr><p:txBody><a:bodyPr wrap="square" rtlCol="0" anchor="ctr"></a:bodyPr><a:lstStyle/><a:p><a:pPr indent="0" marL="0"><a:buNone/></a:pPr><a:r><a:rPr lang="en-US" sz="42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Why Naive Locality Fails:</a:t></a:r><a:endParaRPr lang="en-US" sz="4200" dirty="0"/></a:p></p:txBody></p:sp><p:sp><p:nvSpPr><p:cNvPr id="23" name="Shape 21"></p:cNvPr><p:cNvSpPr/><p:nvPr></p:nvPr></p:nvSpPr><p:spPr><a:xfrm><a:off x="6583680" y="1371600"/><a:ext cx="5120640" cy="548640"/></a:xfrm><a:prstGeom prst="roundRect"><a:avLst><a:gd name="adj" fmla="val 13333"/></a:avLst></a:prstGeom><a:solidFill><a:srgbClr val="FFD147"/></a:solidFill><a:ln w="31750"><a:solidFill><a:srgbClr val="111827"/></a:solidFill><a:prstDash val="solid"/></a:ln></p:spPr></p:sp><p:sp><p:nvSpPr><p:cNvPr id="24" name="Text 22"></p:cNvPr><p:cNvSpPr/><p:nvPr></p:nvPr></p:nvSpPr><p:spPr><a:xfrm><a:off x="6675120" y="1417320"/><a:ext cx="4937760" cy="457200"/></a:xfrm><a:prstGeom prst="rect"><a:avLst></a:avLst></a:prstGeom><a:noFill/><a:ln></a:ln></p:spPr><p:txBody><a:bodyPr wrap="square" rtlCol="0" anchor="ctr"></a:bodyPr><a:lstStyle/><a:p><a:pPr indent="0" marL="0"><a:buNone/></a:pPr><a:r><a:rPr lang="en-US" sz="3200" b="1" spc="-2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The 10 Hotspots</a:t></a:r><a:endParaRPr lang="en-US" sz="3200" dirty="0"/></a:p></p:txBody></p:sp><p:sp><p:nvSpPr><p:cNvPr id="25" name="Text 23"></p:cNvPr><p:cNvSpPr/><p:nvPr></p:nvPr></p:nvSpPr><p:spPr><a:xfrm><a:off x="411480" y="2011680"/><a:ext cx="10972800" cy="274320"/></a:xfrm><a:prstGeom prst="rect"><a:avLst></a:avLst></a:prstGeom><a:noFill/><a:ln></a:ln></p:spPr><p:txBody><a:bodyPr wrap="square" rtlCol="0" anchor="ctr"></a:bodyPr><a:lstStyle/><a:p><a:pPr indent="0" marL="0"><a:buNone/></a:pPr><a:r><a:rPr lang="en-US" sz="1400" i="1" dirty="0"><a:solidFill><a:srgbClr val="4B5563"/></a:solidFill><a:latin typeface="Inter, "Segoe UI", sans-serif" pitchFamily="34" charset="0"/><a:ea typeface="Inter, "Segoe UI", sans-serif" pitchFamily="34" charset="-122"/><a:cs typeface="Inter, "Segoe UI", sans-serif" pitchFamily="34" charset="-120"/></a:rPr><a:t>Deep audit of Muddukrishna et al. (2015) — root causes of runtime regression</a:t></a:r><a:endParaRPr lang="en-US" sz="1400" dirty="0"/></a:p></p:txBody></p:sp><p:sp><p:nvSpPr><p:cNvPr id="26" name="Shape 24"></p:cNvPr><p:cNvSpPr/><p:nvPr></p:nvPr></p:nvSpPr><p:spPr><a:xfrm><a:off x="411480" y="2468880"/><a:ext cx="3566160" cy="3291840"/></a:xfrm><a:prstGeom prst="roundRect"><a:avLst><a:gd name="adj" fmla="val 2222"/></a:avLst></a:prstGeom><a:solidFill><a:srgbClr val="F4F0EA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27" name="Text 25"></p:cNvPr><p:cNvSpPr/><p:nvPr></p:nvPr></p:nvSpPr><p:spPr><a:xfrm><a:off x="594360" y="2651760"/><a:ext cx="3200400" cy="274320"/></a:xfrm><a:prstGeom prst="rect"><a:avLst></a:avLst></a:prstGeom><a:noFill/><a:ln></a:ln></p:spPr><p:txBody><a:bodyPr wrap="square" rtlCol="0" anchor="ctr"></a:bodyPr><a:lstStyle/><a:p><a:pPr indent="0" marL="0"><a:buNone/></a:pPr><a:r><a:rPr lang="en-US" sz="18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Stealing &amp; Placement</a:t></a:r><a:endParaRPr lang="en-US" sz="1800" dirty="0"/></a:p></p:txBody></p:sp><p:sp><p:nvSpPr><p:cNvPr id="28" name="Shape 26"></p:cNvPr><p:cNvSpPr/><p:nvPr></p:nvPr></p:nvSpPr><p:spPr><a:xfrm><a:off x="594360" y="2971800"/><a:ext cx="1097280" cy="256032"/></a:xfrm><a:prstGeom prst="roundRect"><a:avLst><a:gd name="adj" fmla="val 50000"/></a:avLst></a:prstGeom><a:solidFill><a:srgbClr val="1A6FB5"/></a:solidFill><a:ln w="12700"><a:solidFill><a:srgbClr val="1A6FB5"/></a:solidFill><a:prstDash val="solid"/></a:ln></p:spPr></p:sp><p:sp><p:nvSpPr><p:cNvPr id="29" name="Text 27"></p:cNvPr><p:cNvSpPr/><p:nvPr></p:nvPr></p:nvSpPr><p:spPr><a:xfrm><a:off x="594360" y="2971800"/><a:ext cx="1097280" cy="256032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F4F0EA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H1 – H4</a:t></a:r><a:endParaRPr lang="en-US" sz="900" dirty="0"/></a:p></p:txBody></p:sp><p:sp><p:nvSpPr><p:cNvPr id="30" name="Text 28"></p:cNvPr><p:cNvSpPr/><p:nvPr></p:nvPr></p:nvSpPr><p:spPr><a:xfrm><a:off x="594360" y="338328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H1 Static Steal Reach: hard-coded vicinity starves threads on Map or drags remote stalls.</a:t></a:r><a:endParaRPr lang="en-US" sz="1050" dirty="0"/></a:p></p:txBody></p:sp><p:sp><p:nvSpPr><p:cNvPr id="31" name="Text 29"></p:cNvPr><p:cNvSpPr/><p:nvPr></p:nvPr></p:nvSpPr><p:spPr><a:xfrm><a:off x="594360" y="397764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H2 Queue-Level Stealing: pops victim tail blindly — ignores local-data tasks in same queue.</a:t></a:r><a:endParaRPr lang="en-US" sz="1050" dirty="0"/></a:p></p:txBody></p:sp><p:sp><p:nvSpPr><p:cNvPr id="32" name="Text 30"></p:cNvPr><p:cNvSpPr/><p:nvPr></p:nvPr></p:nvSpPr><p:spPr><a:xfrm><a:off x="594360" y="457200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H3 Load-Blind Placement: dealer routes to argmin(comm) without reading queue length.</a:t></a:r><a:endParaRPr lang="en-US" sz="1050" dirty="0"/></a:p></p:txBody></p:sp><p:sp><p:nvSpPr><p:cNvPr id="33" name="Text 31"></p:cNvPr><p:cNvSpPr/><p:nvPr></p:nvPr></p:nvSpPr><p:spPr><a:xfrm><a:off x="594360" y="516636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H4 Binary Threshold Cliffs: hard gates trigger O(N²) path with no calibration.</a:t></a:r><a:endParaRPr lang="en-US" sz="1050" dirty="0"/></a:p></p:txBody></p:sp><p:sp><p:nvSpPr><p:cNvPr id="34" name="Shape 32"></p:cNvPr><p:cNvSpPr/><p:nvPr></p:nvPr></p:nvSpPr><p:spPr><a:xfrm><a:off x="4206240" y="2468880"/><a:ext cx="3566160" cy="3291840"/></a:xfrm><a:prstGeom prst="roundRect"><a:avLst><a:gd name="adj" fmla="val 2222"/></a:avLst></a:prstGeom><a:solidFill><a:srgbClr val="F4F0EA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35" name="Text 33"></p:cNvPr><p:cNvSpPr/><p:nvPr></p:nvPr></p:nvSpPr><p:spPr><a:xfrm><a:off x="4389120" y="2651760"/><a:ext cx="3200400" cy="274320"/></a:xfrm><a:prstGeom prst="rect"><a:avLst></a:avLst></a:prstGeom><a:noFill/><a:ln></a:ln></p:spPr><p:txBody><a:bodyPr wrap="square" rtlCol="0" anchor="ctr"></a:bodyPr><a:lstStyle/><a:p><a:pPr indent="0" marL="0"><a:buNone/></a:pPr><a:r><a:rPr lang="en-US" sz="18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Data Model &amp; Feedback</a:t></a:r><a:endParaRPr lang="en-US" sz="1800" dirty="0"/></a:p></p:txBody></p:sp><p:sp><p:nvSpPr><p:cNvPr id="36" name="Shape 34"></p:cNvPr><p:cNvSpPr/><p:nvPr></p:nvPr></p:nvSpPr><p:spPr><a:xfrm><a:off x="4389120" y="2971800"/><a:ext cx="1097280" cy="256032"/></a:xfrm><a:prstGeom prst="roundRect"><a:avLst><a:gd name="adj" fmla="val 50000"/></a:avLst></a:prstGeom><a:solidFill><a:srgbClr val="1A6FB5"/></a:solidFill><a:ln w="12700"><a:solidFill><a:srgbClr val="1A6FB5"/></a:solidFill><a:prstDash val="solid"/></a:ln></p:spPr></p:sp><p:sp><p:nvSpPr><p:cNvPr id="37" name="Text 35"></p:cNvPr><p:cNvSpPr/><p:nvPr></p:nvPr></p:nvSpPr><p:spPr><a:xfrm><a:off x="4389120" y="2971800"/><a:ext cx="1097280" cy="256032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F4F0EA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H5 – H7</a:t></a:r><a:endParaRPr lang="en-US" sz="900" dirty="0"/></a:p></p:txBody></p:sp><p:sp><p:nvSpPr><p:cNvPr id="38" name="Text 36"></p:cNvPr><p:cNvSpPr/><p:nvPr></p:nvPr></p:nvSpPr><p:spPr><a:xfrm><a:off x="4389120" y="338328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H5 Fragile Footprints: D relies on OpenMP depend clauses; incomplete clauses ruin placement.</a:t></a:r><a:endParaRPr lang="en-US" sz="1050" dirty="0"/></a:p></p:txBody></p:sp><p:sp><p:nvSpPr><p:cNvPr id="39" name="Text 37"></p:cNvPr><p:cNvSpPr/><p:nvPr></p:nvPr></p:nvSpPr><p:spPr><a:xfrm><a:off x="4389120" y="397764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H6 No Feedback Loop: data frozen at omp_malloc; runtime never migrates hot mis-placed pages.</a:t></a:r><a:endParaRPr lang="en-US" sz="1050" dirty="0"/></a:p></p:txBody></p:sp><p:sp><p:nvSpPr><p:cNvPr id="40" name="Text 38"></p:cNvPr><p:cNvSpPr/><p:nvPr></p:nvPr></p:nvSpPr><p:spPr><a:xfrm><a:off x="4389120" y="457200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 H7 Coarse/Fine Menu Blind: rigid 2-item menu fails on irregular SparseLU blocks.</a:t></a:r><a:endParaRPr lang="en-US" sz="1050" dirty="0"/></a:p></p:txBody></p:sp><p:sp><p:nvSpPr><p:cNvPr id="41" name="Shape 39"></p:cNvPr><p:cNvSpPr/><p:nvPr></p:nvPr></p:nvSpPr><p:spPr><a:xfrm><a:off x="8001000" y="2468880"/><a:ext cx="3566160" cy="3291840"/></a:xfrm><a:prstGeom prst="roundRect"><a:avLst><a:gd name="adj" fmla="val 2222"/></a:avLst></a:prstGeom><a:solidFill><a:srgbClr val="111827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42" name="Text 40"></p:cNvPr><p:cNvSpPr/><p:nvPr></p:nvPr></p:nvSpPr><p:spPr><a:xfrm><a:off x="8183880" y="2651760"/><a:ext cx="3200400" cy="274320"/></a:xfrm><a:prstGeom prst="rect"><a:avLst></a:avLst></a:prstGeom><a:noFill/><a:ln></a:ln></p:spPr><p:txBody><a:bodyPr wrap="square" rtlCol="0" anchor="ctr"></a:bodyPr><a:lstStyle/><a:p><a:pPr indent="0" marL="0"><a:buNone/></a:pPr><a:r><a:rPr lang="en-US" sz="1800" b="1" dirty="0"><a:solidFill><a:srgbClr val="F4F0EA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Mesh Bottlenecks</a:t></a:r><a:endParaRPr lang="en-US" sz="1800" dirty="0"/></a:p></p:txBody></p:sp><p:sp><p:nvSpPr><p:cNvPr id="43" name="Shape 41"></p:cNvPr><p:cNvSpPr/><p:nvPr></p:nvPr></p:nvSpPr><p:spPr><a:xfrm><a:off x="8183880" y="2971800"/><a:ext cx="1097280" cy="256032"/></a:xfrm><a:prstGeom prst="roundRect"><a:avLst><a:gd name="adj" fmla="val 50000"/></a:avLst></a:prstGeom><a:solidFill><a:srgbClr val="FFD147"/></a:solidFill><a:ln w="12700"><a:solidFill><a:srgbClr val="FFD147"/></a:solidFill><a:prstDash val="solid"/></a:ln></p:spPr></p:sp><p:sp><p:nvSpPr><p:cNvPr id="44" name="Text 42"></p:cNvPr><p:cNvSpPr/><p:nvPr></p:nvPr></p:nvSpPr><p:spPr><a:xfrm><a:off x="8183880" y="2971800"/><a:ext cx="1097280" cy="256032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H8 – H10</a:t></a:r><a:endParaRPr lang="en-US" sz="900" dirty="0"/></a:p></p:txBody></p:sp><p:sp><p:nvSpPr><p:cNvPr id="45" name="Text 43"></p:cNvPr><p:cNvSpPr/><p:nvPr></p:nvPr></p:nvSpPr><p:spPr><a:xfrm><a:off x="8183880" y="338328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•  H8 Static Home-Cache Trapping: data locked to initial tile — brutal locality vs load trade-off.</a:t></a:r><a:endParaRPr lang="en-US" sz="1050" dirty="0"/></a:p></p:txBody></p:sp><p:sp><p:nvSpPr><p:cNvPr id="46" name="Text 44"></p:cNvPr><p:cNvSpPr/><p:nvPr></p:nvPr></p:nvSpPr><p:spPr><a:xfrm><a:off x="8183880" y="397764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•  H9 Center Bisection Contention: XY routing concentrates traffic at tiles 3,3 → 4,4.</a:t></a:r><a:endParaRPr lang="en-US" sz="1050" dirty="0"/></a:p></p:txBody></p:sp><p:sp><p:nvSpPr><p:cNvPr id="47" name="Text 45"></p:cNvPr><p:cNvSpPr/><p:nvPr></p:nvPr></p:nvSpPr><p:spPr><a:xfrm><a:off x="8183880" y="4572000"/><a:ext cx="3200400" cy="5486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050" dirty="0"><a:solidFill><a:srgbClr val="F4F0EA"/></a:solidFill><a:latin typeface="Inter, "Segoe UI", sans-serif" pitchFamily="34" charset="0"/><a:ea typeface="Inter, "Segoe UI", sans-serif" pitchFamily="34" charset="-122"/><a:cs typeface="Inter, "Segoe UI", sans-serif" pitchFamily="34" charset="-120"/></a:rPr><a:t>•  H10 2D Coarse/Fine Mismatch: 1D line striping destroys 2D spatial locality for block solvers.</a:t></a:r><a:endParaRPr lang="en-US" sz="1050" dirty="0"/></a:p></p:txBody></p:sp><p:sp><p:nvSpPr><p:cNvPr id="48" name="Shape 46"></p:cNvPr><p:cNvSpPr/><p:nvPr></p:nvPr></p:nvSpPr><p:spPr><a:xfrm><a:off x="411480" y="5897880"/><a:ext cx="11338560" cy="594360"/></a:xfrm><a:prstGeom prst="roundRect"><a:avLst><a:gd name="adj" fmla="val 9231"/></a:avLst></a:prstGeom><a:solidFill><a:srgbClr val="FFD147"/></a:solidFill><a:ln w="31750"><a:solidFill><a:srgbClr val="111827"/></a:solidFill><a:prstDash val="solid"/></a:ln><a:effectLst> <a:outerShdw sx="100000" sy="100000" kx="0" ky="0" algn="bl" rotWithShape="0" blurRad="50800" dist="50800" dir="16200000"> <a:srgbClr val="#111827"> <a:alpha val="75000"/></a:srgbClr> </a:outerShdw></a:effectLst></p:spPr></p:sp><p:sp><p:nvSpPr><p:cNvPr id="49" name="Text 47"></p:cNvPr><p:cNvSpPr/><p:nvPr></p:nvPr></p:nvSpPr><p:spPr><a:xfrm><a:off x="640080" y="5943600"/><a:ext cx="10881360" cy="502920"/></a:xfrm><a:prstGeom prst="rect"><a:avLst></a:avLst></a:prstGeom><a:noFill/><a:ln></a:ln></p:spPr><p:txBody><a:bodyPr wrap="square" rtlCol="0" anchor="ctr"></a:bodyPr><a:lstStyle/><a:p><a:pPr algn="ctr" indent="0" marL="0"><a:buNone/></a:pPr><a:r><a:rPr lang="en-US" sz="140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AUDIT DISCOVERY  ·  Optimizing memory locality while ignoring queue backlog and interconnect contention is mathematically self-defeating on irregular task graphs.</a:t></a:r><a:endParaRPr lang="en-US" sz="1400" dirty="0"/></a:p></p:txBody></p:sp><p:sp><p:nvSpPr><p:cNvPr id="50" name="Text 48"></p:cNvPr><p:cNvSpPr/><p:nvPr></p:nvPr></p:nvSpPr><p:spPr><a:xfrm><a:off x="411480" y="6537960"/><a:ext cx="11338560" cy="18288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6B6B6B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Auditing Muddukrishna et al. (2015) · 10 Hotspots Taxonomy H1–H10  ·  03 / 05</a:t></a:r><a:endParaRPr lang="en-US" sz="900" dirty="0"/></a:p></p:txBody></p:sp></p:spTree></p:cSld><p:clrMapOvr><a:masterClrMapping/></p:clrMapOvr></p:sld>
</file>

<file path=ppt/slides/slide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4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1695" cy="6858000"/></a:xfrm><a:prstGeom prst="rect"><a:avLst></a:avLst></a:prstGeom><a:solidFill><a:srgbClr val="F4F0EA"/></a:solidFill><a:ln w="12700"><a:solidFill><a:srgbClr val="F4F0EA"/></a:solidFill><a:prstDash val="solid"/></a:ln></p:spPr></p:sp><p:sp><p:nvSpPr><p:cNvPr id="3" name="Shape 1"></p:cNvPr><p:cNvSpPr/><p:nvPr></p:nvPr></p:nvSpPr><p:spPr><a:xfrm><a:off x="9601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4" name="Shape 2"></p:cNvPr><p:cNvSpPr/><p:nvPr></p:nvPr></p:nvSpPr><p:spPr><a:xfrm><a:off x="19202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5" name="Shape 3"></p:cNvPr><p:cNvSpPr/><p:nvPr></p:nvPr></p:nvSpPr><p:spPr><a:xfrm><a:off x="28803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6" name="Shape 4"></p:cNvPr><p:cNvSpPr/><p:nvPr></p:nvPr></p:nvSpPr><p:spPr><a:xfrm><a:off x="38404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7" name="Shape 5"></p:cNvPr><p:cNvSpPr/><p:nvPr></p:nvPr></p:nvSpPr><p:spPr><a:xfrm><a:off x="48006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8" name="Shape 6"></p:cNvPr><p:cNvSpPr/><p:nvPr></p:nvPr></p:nvSpPr><p:spPr><a:xfrm><a:off x="57607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9" name="Shape 7"></p:cNvPr><p:cNvSpPr/><p:nvPr></p:nvPr></p:nvSpPr><p:spPr><a:xfrm><a:off x="67208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0" name="Shape 8"></p:cNvPr><p:cNvSpPr/><p:nvPr></p:nvPr></p:nvSpPr><p:spPr><a:xfrm><a:off x="76809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1" name="Shape 9"></p:cNvPr><p:cNvSpPr/><p:nvPr></p:nvPr></p:nvSpPr><p:spPr><a:xfrm><a:off x="86410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2" name="Shape 10"></p:cNvPr><p:cNvSpPr/><p:nvPr></p:nvPr></p:nvSpPr><p:spPr><a:xfrm><a:off x="96012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3" name="Shape 11"></p:cNvPr><p:cNvSpPr/><p:nvPr></p:nvPr></p:nvSpPr><p:spPr><a:xfrm><a:off x="105613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4" name="Shape 12"></p:cNvPr><p:cNvSpPr/><p:nvPr></p:nvPr></p:nvSpPr><p:spPr><a:xfrm><a:off x="0" y="9601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5" name="Shape 13"></p:cNvPr><p:cNvSpPr/><p:nvPr></p:nvPr></p:nvSpPr><p:spPr><a:xfrm><a:off x="0" y="192024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6" name="Shape 14"></p:cNvPr><p:cNvSpPr/><p:nvPr></p:nvPr></p:nvSpPr><p:spPr><a:xfrm><a:off x="0" y="288036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7" name="Shape 15"></p:cNvPr><p:cNvSpPr/><p:nvPr></p:nvPr></p:nvSpPr><p:spPr><a:xfrm><a:off x="0" y="384048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8" name="Shape 16"></p:cNvPr><p:cNvSpPr/><p:nvPr></p:nvPr></p:nvSpPr><p:spPr><a:xfrm><a:off x="0" y="480060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9" name="Shape 17"></p:cNvPr><p:cNvSpPr/><p:nvPr></p:nvPr></p:nvSpPr><p:spPr><a:xfrm><a:off x="0" y="57607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20" name="Shape 18"></p:cNvPr><p:cNvSpPr/><p:nvPr></p:nvPr></p:nvSpPr><p:spPr><a:xfrm><a:off x="411480" y="320040"/><a:ext cx="2377440" cy="292608"/></a:xfrm><a:prstGeom prst="roundRect"><a:avLst><a:gd name="adj" fmla="val 50000"/></a:avLst></a:prstGeom><a:solidFill><a:srgbClr val="111827"/></a:solidFill><a:ln w="12700"><a:solidFill><a:srgbClr val="111827"/></a:solidFill><a:prstDash val="solid"/></a:ln></p:spPr></p:sp><p:sp><p:nvSpPr><p:cNvPr id="21" name="Text 19"></p:cNvPr><p:cNvSpPr/><p:nvPr></p:nvPr></p:nvSpPr><p:spPr><a:xfrm><a:off x="5029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PART 03</a:t></a:r><a:endParaRPr lang="en-US" sz="900" dirty="0"/></a:p></p:txBody></p:sp><p:sp><p:nvSpPr><p:cNvPr id="22" name="Text 20"></p:cNvPr><p:cNvSpPr/><p:nvPr></p:nvPr></p:nvSpPr><p:spPr><a:xfrm><a:off x="411480" y="777240"/><a:ext cx="10972800" cy="731520"/></a:xfrm><a:prstGeom prst="rect"><a:avLst></a:avLst></a:prstGeom><a:noFill/><a:ln></a:ln></p:spPr><p:txBody><a:bodyPr wrap="square" rtlCol="0" anchor="ctr"></a:bodyPr><a:lstStyle/><a:p><a:pPr indent="0" marL="0"><a:buNone/></a:pPr><a:r><a:rPr lang="en-US" sz="42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The SparseLU Paradox:</a:t></a:r><a:endParaRPr lang="en-US" sz="4200" dirty="0"/></a:p></p:txBody></p:sp><p:sp><p:nvSpPr><p:cNvPr id="23" name="Shape 21"></p:cNvPr><p:cNvSpPr/><p:nvPr></p:nvPr></p:nvSpPr><p:spPr><a:xfrm><a:off x="5943600" y="1417320"/><a:ext cx="5852160" cy="640080"/></a:xfrm><a:prstGeom prst="roundRect"><a:avLst><a:gd name="adj" fmla="val 11429"/></a:avLst></a:prstGeom><a:solidFill><a:srgbClr val="FFD147"/></a:solidFill><a:ln w="31750"><a:solidFill><a:srgbClr val="111827"/></a:solidFill><a:prstDash val="solid"/></a:ln></p:spPr></p:sp><p:sp><p:nvSpPr><p:cNvPr id="24" name="Text 22"></p:cNvPr><p:cNvSpPr/><p:nvPr></p:nvPr></p:nvSpPr><p:spPr><a:xfrm><a:off x="6035040" y="1463040"/><a:ext cx="5669280" cy="548640"/></a:xfrm><a:prstGeom prst="rect"><a:avLst></a:avLst></a:prstGeom><a:noFill/><a:ln></a:ln></p:spPr><p:txBody><a:bodyPr wrap="square" rtlCol="0" anchor="ctr"></a:bodyPr><a:lstStyle/><a:p><a:pPr indent="0" marL="0"><a:buNone/></a:pPr><a:r><a:rPr lang="en-US" sz="3000" b="1" spc="-2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When Locality Slows Down</a:t></a:r><a:endParaRPr lang="en-US" sz="3000" dirty="0"/></a:p></p:txBody></p:sp><p:sp><p:nvSpPr><p:cNvPr id="25" name="Text 23"></p:cNvPr><p:cNvSpPr/><p:nvPr></p:nvPr></p:nvSpPr><p:spPr><a:xfrm><a:off x="411480" y="2148840"/><a:ext cx="10972800" cy="274320"/></a:xfrm><a:prstGeom prst="rect"><a:avLst></a:avLst></a:prstGeom><a:noFill/><a:ln></a:ln></p:spPr><p:txBody><a:bodyPr wrap="square" rtlCol="0" anchor="ctr"></a:bodyPr><a:lstStyle/><a:p><a:pPr indent="0" marL="0"><a:buNone/></a:pPr><a:r><a:rPr lang="en-US" sz="1400" i="1" dirty="0"><a:solidFill><a:srgbClr val="4B5563"/></a:solidFill><a:latin typeface="Inter, "Segoe UI", sans-serif" pitchFamily="34" charset="0"/><a:ea typeface="Inter, "Segoe UI", sans-serif" pitchFamily="34" charset="-122"/><a:cs typeface="Inter, "Segoe UI", sans-serif" pitchFamily="34" charset="-120"/></a:rPr><a:t>100 NUMA runs (8-node Opteron) + 56 TILEPro64 mesh configurations</a:t></a:r><a:endParaRPr lang="en-US" sz="1400" dirty="0"/></a:p></p:txBody></p:sp><p:sp><p:nvSpPr><p:cNvPr id="26" name="Shape 24"></p:cNvPr><p:cNvSpPr/><p:nvPr></p:nvPr></p:nvSpPr><p:spPr><a:xfrm><a:off x="411480" y="2606040"/><a:ext cx="6583680" cy="3383280"/></a:xfrm><a:prstGeom prst="roundRect"><a:avLst><a:gd name="adj" fmla="val 2162"/></a:avLst></a:prstGeom><a:solidFill><a:srgbClr val="F4F0EA"/></a:solidFill><a:ln w="31750"><a:solidFill><a:srgbClr val="111827"/></a:solidFill><a:prstDash val="solid"/></a:ln><a:effectLst> <a:outerShdw sx="100000" sy="100000" kx="0" ky="0" algn="bl" rotWithShape="0" blurRad="50800" dist="50800" dir="16200000"> <a:srgbClr val="C8C6BF"> <a:alpha val="75000"/></a:srgbClr> </a:outerShdw></a:effectLst></p:spPr></p:sp><p:sp><p:nvSpPr><p:cNvPr id="27" name="Text 25"></p:cNvPr><p:cNvSpPr/><p:nvPr></p:nvPr></p:nvSpPr><p:spPr><a:xfrm><a:off x="685800" y="2743200"/><a:ext cx="6035040" cy="274320"/></a:xfrm><a:prstGeom prst="rect"><a:avLst></a:avLst></a:prstGeom><a:noFill/><a:ln></a:ln></p:spPr><p:txBody><a:bodyPr wrap="square" rtlCol="0" anchor="ctr"></a:bodyPr><a:lstStyle/><a:p><a:pPr indent="0" marL="0"><a:buNone/></a:pPr><a:r><a:rPr lang="en-US" sz="15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AMD Opteron Reproduction (100 Runs · 100% Verification)</a:t></a:r><a:endParaRPr lang="en-US" sz="1500" dirty="0"/></a:p></p:txBody></p:sp><p:pic>  <p:nvPicPr><p:cNvPr id="28" name="Image 0" descr="./results/numa/fig7_reproduction.png">    </p:cNvPr>    <p:cNvPicPr><a:picLocks noChangeAspect="1"/></p:cNvPicPr>    <p:nvPr></p:nvPr>  </p:nvPicPr><p:blipFill><a:blip r:embed="rId1"></a:blip>  <a:stretch><a:fillRect/></a:stretch></p:blipFill><p:spPr> <a:xfrm>  <a:off x="685800" y="3063240"/>  <a:ext cx="5852160" cy="2103120"/> </a:xfrm> <a:prstGeom prst="rect"><a:avLst/></a:prstGeom></p:spPr></p:pic><p:sp><p:nvSpPr><p:cNvPr id="29" name="Shape 26"></p:cNvPr><p:cNvSpPr/><p:nvPr></p:nvPr></p:nvSpPr><p:spPr><a:xfrm><a:off x="685800" y="5303520"/><a:ext cx="6035040" cy="548640"/></a:xfrm><a:prstGeom prst="roundRect"><a:avLst><a:gd name="adj" fmla="val 10000"/></a:avLst></a:prstGeom><a:solidFill><a:srgbClr val="EFEAE3"/></a:solidFill><a:ln w="12700"><a:solidFill><a:srgbClr val="111827"/></a:solidFill><a:prstDash val="solid"/></a:ln></p:spPr></p:sp><p:sp><p:nvSpPr><p:cNvPr id="30" name="Text 27"></p:cNvPr><p:cNvSpPr/><p:nvPr></p:nvPr></p:nvSpPr><p:spPr><a:xfrm><a:off x="822960" y="5349240"/><a:ext cx="5760720" cy="45720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•  Map: −45.1% Comm (0.55×) · −19.0% Cycles (0.81×)    •  Matmul: −22.5% Comm (0.78×) · Parity    •  SparseLU: −26.7% Comm BUT +15.1% SLOWER!</a:t></a:r><a:endParaRPr lang="en-US" sz="1000" dirty="0"/></a:p></p:txBody></p:sp><p:sp><p:nvSpPr><p:cNvPr id="31" name="Shape 28"></p:cNvPr><p:cNvSpPr/><p:nvPr></p:nvPr></p:nvSpPr><p:spPr><a:xfrm><a:off x="7223760" y="2606040"/><a:ext cx="4572000" cy="1828800"/></a:xfrm><a:prstGeom prst="roundRect"><a:avLst><a:gd name="adj" fmla="val 4000"/></a:avLst></a:prstGeom><a:solidFill><a:srgbClr val="111827"/></a:solidFill><a:ln w="31750"><a:solidFill><a:srgbClr val="111827"/></a:solidFill><a:prstDash val="solid"/></a:ln></p:spPr></p:sp><p:sp><p:nvSpPr><p:cNvPr id="32" name="Text 29"></p:cNvPr><p:cNvSpPr/><p:nvPr></p:nvPr></p:nvSpPr><p:spPr><a:xfrm><a:off x="7452360" y="2743200"/><a:ext cx="4114800" cy="274320"/></a:xfrm><a:prstGeom prst="rect"><a:avLst></a:avLst></a:prstGeom><a:noFill/><a:ln></a:ln></p:spPr><p:txBody><a:bodyPr wrap="square" rtlCol="0" anchor="ctr"></a:bodyPr><a:lstStyle/><a:p><a:pPr indent="0" marL="0"><a:buNone/></a:pPr><a:r><a:rPr lang="en-US" sz="14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THE PARADOX EXPLAINED</a:t></a:r><a:endParaRPr lang="en-US" sz="1400" dirty="0"/></a:p></p:txBody></p:sp><p:sp><p:nvSpPr><p:cNvPr id="33" name="Text 30"></p:cNvPr><p:cNvSpPr/><p:nvPr></p:nvPr></p:nvSpPr><p:spPr><a:xfrm><a:off x="7452360" y="3063240"/><a:ext cx="4114800" cy="274320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1. Irregular DAG: tasks have skewed input dependencies.</a:t></a:r><a:endParaRPr lang="en-US" sz="1100" dirty="0"/></a:p></p:txBody></p:sp><p:sp><p:nvSpPr><p:cNvPr id="34" name="Text 31"></p:cNvPr><p:cNvSpPr/><p:nvPr></p:nvPr></p:nvSpPr><p:spPr><a:xfrm><a:off x="7452360" y="3355848"/><a:ext cx="4114800" cy="274320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2. Load-blind dealer sends critical tasks to Node 0.</a:t></a:r><a:endParaRPr lang="en-US" sz="1100" dirty="0"/></a:p></p:txBody></p:sp><p:sp><p:nvSpPr><p:cNvPr id="35" name="Text 32"></p:cNvPr><p:cNvSpPr/><p:nvPr></p:nvPr></p:nvSpPr><p:spPr><a:xfrm><a:off x="7452360" y="3648456"/><a:ext cx="4114800" cy="274320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3. Queue 0: 20 tasks  ·  Queues 1–7: EMPTY.</a:t></a:r><a:endParaRPr lang="en-US" sz="1100" dirty="0"/></a:p></p:txBody></p:sp><p:sp><p:nvSpPr><p:cNvPr id="36" name="Text 33"></p:cNvPr><p:cNvSpPr/><p:nvPr></p:nvPr></p:nvSpPr><p:spPr><a:xfrm><a:off x="7452360" y="3941064"/><a:ext cx="4114800" cy="274320"/></a:xfrm><a:prstGeom prst="rect"><a:avLst></a:avLst></a:prstGeom><a:noFill/><a:ln></a:ln></p:spPr><p:txBody><a:bodyPr wrap="square" rtlCol="0" anchor="ctr"></a:bodyPr><a:lstStyle/><a:p><a:pPr indent="0" marL="0"><a:buNone/></a:pPr><a:r><a:rPr lang="en-US" sz="1100" dirty="0"><a:solidFill><a:srgbClr val="F4F0EA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4. 23 cores idle — comm win wiped by starvation.</a:t></a:r><a:endParaRPr lang="en-US" sz="1100" dirty="0"/></a:p></p:txBody></p:sp><p:sp><p:nvSpPr><p:cNvPr id="37" name="Shape 34"></p:cNvPr><p:cNvSpPr/><p:nvPr></p:nvPr></p:nvSpPr><p:spPr><a:xfrm><a:off x="7223760" y="4572000"/><a:ext cx="4572000" cy="1097280"/></a:xfrm><a:prstGeom prst="roundRect"><a:avLst><a:gd name="adj" fmla="val 6667"/></a:avLst></a:prstGeom><a:solidFill><a:srgbClr val="EFEAE3"/></a:solidFill><a:ln w="31750"><a:solidFill><a:srgbClr val="111827"/></a:solidFill><a:prstDash val="solid"/></a:ln></p:spPr></p:sp><p:sp><p:nvSpPr><p:cNvPr id="38" name="Text 35"></p:cNvPr><p:cNvSpPr/><p:nvPr></p:nvPr></p:nvSpPr><p:spPr><a:xfrm><a:off x="7452360" y="4663440"/><a:ext cx="4114800" cy="27432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TILEPro64 8×8 Mesh</a:t></a:r><a:endParaRPr lang="en-US" sz="1600" dirty="0"/></a:p></p:txBody></p:sp><p:sp><p:nvSpPr><p:cNvPr id="39" name="Text 36"></p:cNvPr><p:cNvSpPr/><p:nvPr></p:nvPr></p:nvSpPr><p:spPr><a:xfrm><a:off x="7452360" y="4892040"/><a:ext cx="4114800" cy="457200"/></a:xfrm><a:prstGeom prst="rect"><a:avLst></a:avLst></a:prstGeom><a:noFill/><a:ln></a:ln></p:spPr><p:txBody><a:bodyPr wrap="square" rtlCol="0" anchor="ctr"></a:bodyPr><a:lstStyle/><a:p><a:pPr indent="0" marL="0"><a:lnSpc><a:spcPts val="1200"/></a:lnSpc><a:buNone/></a:pPr><a:r><a:rPr lang="en-US" sz="1000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• 80.3% comm reduction (6.67M → 1.31M)  ·  • 39.3% speedup (281K → 170K)  ·  • 0 steals (63 → 0)</a:t></a:r><a:endParaRPr lang="en-US" sz="1000" dirty="0"/></a:p></p:txBody></p:sp><p:pic>  <p:nvPicPr><p:cNvPr id="40" name="Image 1" descr="./tilepro64/results/tilepro64_results.png">    </p:cNvPr>    <p:cNvPicPr><a:picLocks noChangeAspect="1"/></p:cNvPicPr>    <p:nvPr></p:nvPr>  </p:nvPicPr><p:blipFill><a:blip r:embed="rId2"></a:blip>  <a:stretch><a:fillRect/></a:stretch></p:blipFill><p:spPr> <a:xfrm>  <a:off x="7223760" y="5486400"/>  <a:ext cx="4572000" cy="502920"/> </a:xfrm> <a:prstGeom prst="rect"><a:avLst/></a:prstGeom></p:spPr></p:pic><p:pic>  <p:nvPicPr><p:cNvPr id="41" name="Image 2" descr="./tilepro64/results/tilepro64_results.png">    </p:cNvPr>    <p:cNvPicPr><a:picLocks noChangeAspect="1"/></p:cNvPicPr>    <p:nvPr></p:nvPr>  </p:nvPicPr><p:blipFill><a:blip r:embed="rId3"></a:blip>  <a:stretch><a:fillRect/></a:stretch></p:blipFill><p:spPr> <a:xfrm>  <a:off x="7223760" y="5989320"/>  <a:ext cx="4572000" cy="502920"/> </a:xfrm> <a:prstGeom prst="rect"><a:avLst/></a:prstGeom></p:spPr></p:pic><p:sp><p:nvSpPr><p:cNvPr id="42" name="Shape 37"></p:cNvPr><p:cNvSpPr/><p:nvPr></p:nvPr></p:nvSpPr><p:spPr><a:xfrm><a:off x="7223760" y="5623560"/><a:ext cx="4572000" cy="320040"/></a:xfrm><a:prstGeom prst="roundRect"><a:avLst><a:gd name="adj" fmla="val 17143"/></a:avLst></a:prstGeom><a:solidFill><a:srgbClr val="B91C1C"/></a:solidFill><a:ln w="12700"><a:solidFill><a:srgbClr val="111827"/></a:solidFill><a:prstDash val="solid"/></a:ln></p:spPr></p:sp><p:sp><p:nvSpPr><p:cNvPr id="43" name="Text 38"></p:cNvPr><p:cNvSpPr/><p:nvPr></p:nvPr></p:nvSpPr><p:spPr><a:xfrm><a:off x="7315200" y="5641848"/><a:ext cx="4389120" cy="27432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F4F0EA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+15.1% slowdown vs −26.7% comm drop — THE PARADOX</a:t></a:r><a:endParaRPr lang="en-US" sz="900" dirty="0"/></a:p></p:txBody></p:sp><p:sp><p:nvSpPr><p:cNvPr id="44" name="Text 39"></p:cNvPr><p:cNvSpPr/><p:nvPr></p:nvPr></p:nvSpPr><p:spPr><a:xfrm><a:off x="411480" y="6537960"/><a:ext cx="11338560" cy="18288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6B6B6B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Empirical Reproduction: AMD Opteron NUMA &amp; TILEPro64 Manycore Mesh  ·  04 / 05</a:t></a:r><a:endParaRPr lang="en-US" sz="900" dirty="0"/></a:p></p:txBody></p:sp></p:spTree></p:cSld><p:clrMapOvr><a:masterClrMapping/></p:clrMapOvr></p:sld>
</file>

<file path=ppt/slides/slide5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5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0" y="0"/><a:ext cx="12191695" cy="6858000"/></a:xfrm><a:prstGeom prst="rect"><a:avLst></a:avLst></a:prstGeom><a:solidFill><a:srgbClr val="F4F0EA"/></a:solidFill><a:ln w="12700"><a:solidFill><a:srgbClr val="F4F0EA"/></a:solidFill><a:prstDash val="solid"/></a:ln></p:spPr></p:sp><p:sp><p:nvSpPr><p:cNvPr id="3" name="Shape 1"></p:cNvPr><p:cNvSpPr/><p:nvPr></p:nvPr></p:nvSpPr><p:spPr><a:xfrm><a:off x="9601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4" name="Shape 2"></p:cNvPr><p:cNvSpPr/><p:nvPr></p:nvPr></p:nvSpPr><p:spPr><a:xfrm><a:off x="19202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5" name="Shape 3"></p:cNvPr><p:cNvSpPr/><p:nvPr></p:nvPr></p:nvSpPr><p:spPr><a:xfrm><a:off x="28803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6" name="Shape 4"></p:cNvPr><p:cNvSpPr/><p:nvPr></p:nvPr></p:nvSpPr><p:spPr><a:xfrm><a:off x="38404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7" name="Shape 5"></p:cNvPr><p:cNvSpPr/><p:nvPr></p:nvPr></p:nvSpPr><p:spPr><a:xfrm><a:off x="48006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8" name="Shape 6"></p:cNvPr><p:cNvSpPr/><p:nvPr></p:nvPr></p:nvSpPr><p:spPr><a:xfrm><a:off x="57607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9" name="Shape 7"></p:cNvPr><p:cNvSpPr/><p:nvPr></p:nvPr></p:nvSpPr><p:spPr><a:xfrm><a:off x="672084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0" name="Shape 8"></p:cNvPr><p:cNvSpPr/><p:nvPr></p:nvPr></p:nvSpPr><p:spPr><a:xfrm><a:off x="768096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1" name="Shape 9"></p:cNvPr><p:cNvSpPr/><p:nvPr></p:nvPr></p:nvSpPr><p:spPr><a:xfrm><a:off x="864108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2" name="Shape 10"></p:cNvPr><p:cNvSpPr/><p:nvPr></p:nvPr></p:nvSpPr><p:spPr><a:xfrm><a:off x="960120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3" name="Shape 11"></p:cNvPr><p:cNvSpPr/><p:nvPr></p:nvPr></p:nvSpPr><p:spPr><a:xfrm><a:off x="10561320" y="0"/><a:ext cx="9144" cy="6858000"/></a:xfrm><a:prstGeom prst="rect"><a:avLst></a:avLst></a:prstGeom><a:solidFill><a:srgbClr val="DDD8CF"/></a:solidFill><a:ln w="12700"><a:solidFill><a:srgbClr val="DDD8CF"/></a:solidFill><a:prstDash val="solid"/></a:ln></p:spPr></p:sp><p:sp><p:nvSpPr><p:cNvPr id="14" name="Shape 12"></p:cNvPr><p:cNvSpPr/><p:nvPr></p:nvPr></p:nvSpPr><p:spPr><a:xfrm><a:off x="0" y="9601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5" name="Shape 13"></p:cNvPr><p:cNvSpPr/><p:nvPr></p:nvPr></p:nvSpPr><p:spPr><a:xfrm><a:off x="0" y="192024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6" name="Shape 14"></p:cNvPr><p:cNvSpPr/><p:nvPr></p:nvPr></p:nvSpPr><p:spPr><a:xfrm><a:off x="0" y="288036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7" name="Shape 15"></p:cNvPr><p:cNvSpPr/><p:nvPr></p:nvPr></p:nvSpPr><p:spPr><a:xfrm><a:off x="0" y="384048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8" name="Shape 16"></p:cNvPr><p:cNvSpPr/><p:nvPr></p:nvPr></p:nvSpPr><p:spPr><a:xfrm><a:off x="0" y="480060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19" name="Shape 17"></p:cNvPr><p:cNvSpPr/><p:nvPr></p:nvPr></p:nvSpPr><p:spPr><a:xfrm><a:off x="0" y="5760720"/><a:ext cx="12191695" cy="9144"/></a:xfrm><a:prstGeom prst="rect"><a:avLst></a:avLst></a:prstGeom><a:solidFill><a:srgbClr val="DDD8CF"/></a:solidFill><a:ln w="12700"><a:solidFill><a:srgbClr val="DDD8CF"/></a:solidFill><a:prstDash val="solid"/></a:ln></p:spPr></p:sp><p:sp><p:nvSpPr><p:cNvPr id="20" name="Shape 18"></p:cNvPr><p:cNvSpPr/><p:nvPr></p:nvPr></p:nvSpPr><p:spPr><a:xfrm><a:off x="411480" y="320040"/><a:ext cx="2377440" cy="292608"/></a:xfrm><a:prstGeom prst="roundRect"><a:avLst><a:gd name="adj" fmla="val 50000"/></a:avLst></a:prstGeom><a:solidFill><a:srgbClr val="111827"/></a:solidFill><a:ln w="12700"><a:solidFill><a:srgbClr val="111827"/></a:solidFill><a:prstDash val="solid"/></a:ln></p:spPr></p:sp><p:sp><p:nvSpPr><p:cNvPr id="21" name="Text 19"></p:cNvPr><p:cNvSpPr/><p:nvPr></p:nvPr></p:nvSpPr><p:spPr><a:xfrm><a:off x="502920" y="320040"/><a:ext cx="2194560" cy="292608"/></a:xfrm><a:prstGeom prst="rect"><a:avLst></a:avLst></a:prstGeom><a:noFill/><a:ln></a:ln></p:spPr><p:txBody><a:bodyPr wrap="square" rtlCol="0" anchor="ctr"></a:bodyPr><a:lstStyle/><a:p><a:pPr indent="0" marL="0"><a:buNone/></a:pPr><a:r><a:rPr lang="en-US" sz="900" b="1" spc="200" kern="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PART 04</a:t></a:r><a:endParaRPr lang="en-US" sz="900" dirty="0"/></a:p></p:txBody></p:sp><p:sp><p:nvSpPr><p:cNvPr id="22" name="Text 20"></p:cNvPr><p:cNvSpPr/><p:nvPr></p:nvPr></p:nvSpPr><p:spPr><a:xfrm><a:off x="411480" y="777240"/><a:ext cx="10972800" cy="640080"/></a:xfrm><a:prstGeom prst="rect"><a:avLst></a:avLst></a:prstGeom><a:noFill/><a:ln></a:ln></p:spPr><p:txBody><a:bodyPr wrap="square" rtlCol="0" anchor="ctr"></a:bodyPr><a:lstStyle/><a:p><a:pPr indent="0" marL="0"><a:buNone/></a:pPr><a:r><a:rPr lang="en-US" sz="4200" b="1" spc="-3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The NOVA Solution:</a:t></a:r><a:endParaRPr lang="en-US" sz="4200" dirty="0"/></a:p></p:txBody></p:sp><p:sp><p:nvSpPr><p:cNvPr id="23" name="Shape 21"></p:cNvPr><p:cNvSpPr/><p:nvPr></p:nvPr></p:nvSpPr><p:spPr><a:xfrm><a:off x="5029200" y="1417320"/><a:ext cx="6766560" cy="548640"/></a:xfrm><a:prstGeom prst="roundRect"><a:avLst><a:gd name="adj" fmla="val 13333"/></a:avLst></a:prstGeom><a:solidFill><a:srgbClr val="FFD147"/></a:solidFill><a:ln w="31750"><a:solidFill><a:srgbClr val="111827"/></a:solidFill><a:prstDash val="solid"/></a:ln></p:spPr></p:sp><p:sp><p:nvSpPr><p:cNvPr id="24" name="Text 22"></p:cNvPr><p:cNvSpPr/><p:nvPr></p:nvPr></p:nvSpPr><p:spPr><a:xfrm><a:off x="5120640" y="1463040"/><a:ext cx="6583680" cy="457200"/></a:xfrm><a:prstGeom prst="rect"><a:avLst></a:avLst></a:prstGeom><a:noFill/><a:ln></a:ln></p:spPr><p:txBody><a:bodyPr wrap="square" rtlCol="0" anchor="ctr"></a:bodyPr><a:lstStyle/><a:p><a:pPr indent="0" marL="0"><a:buNone/></a:pPr><a:r><a:rPr lang="en-US" sz="3200" b="1" spc="-200" kern="0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Adaptive Co-Scheduling</a:t></a:r><a:endParaRPr lang="en-US" sz="3200" dirty="0"/></a:p></p:txBody></p:sp><p:sp><p:nvSpPr><p:cNvPr id="25" name="Text 23"></p:cNvPr><p:cNvSpPr/><p:nvPr></p:nvPr></p:nvSpPr><p:spPr><a:xfrm><a:off x="411480" y="2103120"/><a:ext cx="10972800" cy="274320"/></a:xfrm><a:prstGeom prst="rect"><a:avLst></a:avLst></a:prstGeom><a:noFill/><a:ln></a:ln></p:spPr><p:txBody><a:bodyPr wrap="square" rtlCol="0" anchor="ctr"></a:bodyPr><a:lstStyle/><a:p><a:pPr indent="0" marL="0"><a:buNone/></a:pPr><a:r><a:rPr lang="en-US" sz="1400" i="1" dirty="0"><a:solidFill><a:srgbClr val="4B5563"/></a:solidFill><a:latin typeface="Inter, "Segoe UI", sans-serif" pitchFamily="34" charset="0"/><a:ea typeface="Inter, "Segoe UI", sans-serif" pitchFamily="34" charset="-122"/><a:cs typeface="Inter, "Segoe UI", sans-serif" pitchFamily="34" charset="-120"/></a:rPr><a:t>Four architectural pillars + defense takeaways — zero-contention control plane</a:t></a:r><a:endParaRPr lang="en-US" sz="1400" dirty="0"/></a:p></p:txBody></p:sp><p:sp><p:nvSpPr><p:cNvPr id="26" name="Shape 24"></p:cNvPr><p:cNvSpPr/><p:nvPr></p:nvPr></p:nvSpPr><p:spPr><a:xfrm><a:off x="411480" y="2468880"/><a:ext cx="5486400" cy="1508760"/></a:xfrm><a:prstGeom prst="roundRect"><a:avLst><a:gd name="adj" fmla="val 4848"/></a:avLst></a:prstGeom><a:solidFill><a:srgbClr val="F4F0EA"/></a:solidFill><a:ln w="25400"><a:solidFill><a:srgbClr val="111827"/></a:solidFill><a:prstDash val="solid"/></a:ln><a:effectLst> <a:outerShdw sx="100000" sy="100000" kx="0" ky="0" algn="bl" rotWithShape="0" blurRad="38100" dist="50800" dir="16200000"> <a:srgbClr val="C8C6BF"> <a:alpha val="75000"/></a:srgbClr> </a:outerShdw></a:effectLst></p:spPr></p:sp><p:sp><p:nvSpPr><p:cNvPr id="27" name="Shape 25"></p:cNvPr><p:cNvSpPr/><p:nvPr></p:nvPr></p:nvSpPr><p:spPr><a:xfrm><a:off x="594360" y="2697480"/><a:ext cx="822960" cy="502920"/></a:xfrm><a:prstGeom prst="ellipse"><a:avLst></a:avLst></a:prstGeom><a:solidFill><a:srgbClr val="FFD147"/></a:solidFill><a:ln w="19050"><a:solidFill><a:srgbClr val="111827"/></a:solidFill><a:prstDash val="solid"/></a:ln></p:spPr></p:sp><p:sp><p:nvSpPr><p:cNvPr id="28" name="Text 26"></p:cNvPr><p:cNvSpPr/><p:nvPr></p:nvPr></p:nvSpPr><p:spPr><a:xfrm><a:off x="594360" y="2697480"/><a:ext cx="822960" cy="50292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N-A</a:t></a:r><a:endParaRPr lang="en-US" sz="1600" dirty="0"/></a:p></p:txBody></p:sp><p:sp><p:nvSpPr><p:cNvPr id="29" name="Text 27"></p:cNvPr><p:cNvSpPr/><p:nvPr></p:nvPr></p:nvSpPr><p:spPr><a:xfrm><a:off x="1508760" y="2697480"/><a:ext cx="4206240" cy="32004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Load-Aware Work Dealing</a:t></a:r><a:endParaRPr lang="en-US" sz="1600" dirty="0"/></a:p></p:txBody></p:sp><p:sp><p:nvSpPr><p:cNvPr id="30" name="Shape 28"></p:cNvPr><p:cNvSpPr/><p:nvPr></p:nvPr></p:nvSpPr><p:spPr><a:xfrm><a:off x="1508760" y="3063240"/><a:ext cx="914400" cy="228600"/></a:xfrm><a:prstGeom prst="roundRect"><a:avLst><a:gd name="adj" fmla="val 48000"/></a:avLst></a:prstGeom><a:solidFill><a:srgbClr val="DCE4FF"/></a:solidFill><a:ln w="12700"><a:solidFill><a:srgbClr val="DCE4FF"/></a:solidFill><a:prstDash val="solid"/></a:ln></p:spPr></p:sp><p:sp><p:nvSpPr><p:cNvPr id="31" name="Text 29"></p:cNvPr><p:cNvSpPr/><p:nvPr></p:nvPr></p:nvSpPr><p:spPr><a:xfrm><a:off x="1508760" y="3063240"/><a:ext cx="914400" cy="22860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Fixes H3, H4</a:t></a:r><a:endParaRPr lang="en-US" sz="900" dirty="0"/></a:p></p:txBody></p:sp><p:sp><p:nvSpPr><p:cNvPr id="32" name="Text 30"></p:cNvPr><p:cNvSpPr/><p:nvPr></p:nvPr></p:nvSpPr><p:spPr><a:xfrm><a:off x="1508760" y="3337560"/><a:ext cx="4206240" cy="3200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100" dirty="0"><a:solidFill><a:srgbClr val="374151"/></a:solidFill><a:latin typeface="Inter, "Segoe UI", sans-serif" pitchFamily="34" charset="0"/><a:ea typeface="Inter, "Segoe UI", sans-serif" pitchFamily="34" charset="-122"/><a:cs typeface="Inter, "Segoe UI", sans-serif" pitchFamily="34" charset="-120"/></a:rPr><a:t>Composite score:  α·comm_norm(D,q) + (1−α)·occ_norm(q)  — balances proximity with backlog.</a:t></a:r><a:endParaRPr lang="en-US" sz="1100" dirty="0"/></a:p></p:txBody></p:sp><p:sp><p:nvSpPr><p:cNvPr id="33" name="Shape 31"></p:cNvPr><p:cNvSpPr/><p:nvPr></p:nvPr></p:nvSpPr><p:spPr><a:xfrm><a:off x="594360" y="3611880"/><a:ext cx="5120640" cy="320040"/></a:xfrm><a:prstGeom prst="roundRect"><a:avLst><a:gd name="adj" fmla="val 17143"/></a:avLst></a:prstGeom><a:solidFill><a:srgbClr val="111827"/></a:solidFill><a:ln w="12700"><a:solidFill><a:srgbClr val="111827"/></a:solidFill><a:prstDash val="solid"/></a:ln></p:spPr></p:sp><p:sp><p:nvSpPr><p:cNvPr id="34" name="Text 32"></p:cNvPr><p:cNvSpPr/><p:nvPr></p:nvPr></p:nvSpPr><p:spPr><a:xfrm><a:off x="731520" y="3611880"/><a:ext cx="4846320" cy="32004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score(q) = α·comm_norm + (1−α)·occ_norm</a:t></a:r><a:endParaRPr lang="en-US" sz="1000" dirty="0"/></a:p></p:txBody></p:sp><p:sp><p:nvSpPr><p:cNvPr id="35" name="Shape 33"></p:cNvPr><p:cNvSpPr/><p:nvPr></p:nvPr></p:nvSpPr><p:spPr><a:xfrm><a:off x="6172200" y="2468880"/><a:ext cx="5486400" cy="1508760"/></a:xfrm><a:prstGeom prst="roundRect"><a:avLst><a:gd name="adj" fmla="val 4848"/></a:avLst></a:prstGeom><a:solidFill><a:srgbClr val="EFEAE3"/></a:solidFill><a:ln w="25400"><a:solidFill><a:srgbClr val="111827"/></a:solidFill><a:prstDash val="solid"/></a:ln><a:effectLst> <a:outerShdw sx="100000" sy="100000" kx="0" ky="0" algn="bl" rotWithShape="0" blurRad="38100" dist="50800" dir="16200000"> <a:srgbClr val="C8C6BF"> <a:alpha val="75000"/></a:srgbClr> </a:outerShdw></a:effectLst></p:spPr></p:sp><p:sp><p:nvSpPr><p:cNvPr id="36" name="Shape 34"></p:cNvPr><p:cNvSpPr/><p:nvPr></p:nvPr></p:nvSpPr><p:spPr><a:xfrm><a:off x="6355080" y="2697480"/><a:ext cx="822960" cy="502920"/></a:xfrm><a:prstGeom prst="ellipse"><a:avLst></a:avLst></a:prstGeom><a:solidFill><a:srgbClr val="FFD147"/></a:solidFill><a:ln w="19050"><a:solidFill><a:srgbClr val="111827"/></a:solidFill><a:prstDash val="solid"/></a:ln></p:spPr></p:sp><p:sp><p:nvSpPr><p:cNvPr id="37" name="Text 35"></p:cNvPr><p:cNvSpPr/><p:nvPr></p:nvPr></p:nvSpPr><p:spPr><a:xfrm><a:off x="6355080" y="2697480"/><a:ext cx="822960" cy="50292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N-B</a:t></a:r><a:endParaRPr lang="en-US" sz="1600" dirty="0"/></a:p></p:txBody></p:sp><p:sp><p:nvSpPr><p:cNvPr id="38" name="Text 36"></p:cNvPr><p:cNvSpPr/><p:nvPr></p:nvPr></p:nvSpPr><p:spPr><a:xfrm><a:off x="7269480" y="2697480"/><a:ext cx="4206240" cy="32004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Task-Level Shadow Index</a:t></a:r><a:endParaRPr lang="en-US" sz="1600" dirty="0"/></a:p></p:txBody></p:sp><p:sp><p:nvSpPr><p:cNvPr id="39" name="Shape 37"></p:cNvPr><p:cNvSpPr/><p:nvPr></p:nvPr></p:nvSpPr><p:spPr><a:xfrm><a:off x="7269480" y="3063240"/><a:ext cx="914400" cy="228600"/></a:xfrm><a:prstGeom prst="roundRect"><a:avLst><a:gd name="adj" fmla="val 48000"/></a:avLst></a:prstGeom><a:solidFill><a:srgbClr val="DCE4FF"/></a:solidFill><a:ln w="12700"><a:solidFill><a:srgbClr val="DCE4FF"/></a:solidFill><a:prstDash val="solid"/></a:ln></p:spPr></p:sp><p:sp><p:nvSpPr><p:cNvPr id="40" name="Text 38"></p:cNvPr><p:cNvSpPr/><p:nvPr></p:nvPr></p:nvSpPr><p:spPr><a:xfrm><a:off x="7269480" y="3063240"/><a:ext cx="914400" cy="22860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Fixes H2</a:t></a:r><a:endParaRPr lang="en-US" sz="900" dirty="0"/></a:p></p:txBody></p:sp><p:sp><p:nvSpPr><p:cNvPr id="41" name="Text 39"></p:cNvPr><p:cNvSpPr/><p:nvPr></p:nvPr></p:nvSpPr><p:spPr><a:xfrm><a:off x="7269480" y="3337560"/><a:ext cx="4206240" cy="3200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100" dirty="0"><a:solidFill><a:srgbClr val="374151"/></a:solidFill><a:latin typeface="Inter, "Segoe UI", sans-serif" pitchFamily="34" charset="0"/><a:ea typeface="Inter, "Segoe UI", sans-serif" pitchFamily="34" charset="-122"/><a:cs typeface="Inter, "Segoe UI", sans-serif" pitchFamily="34" charset="-120"/></a:rPr><a:t>Lock-free ring buffer (k=8). Thief peeks top tasks — steals matching local RAM instead of blind tail-pop.</a:t></a:r><a:endParaRPr lang="en-US" sz="1100" dirty="0"/></a:p></p:txBody></p:sp><p:sp><p:nvSpPr><p:cNvPr id="42" name="Shape 40"></p:cNvPr><p:cNvSpPr/><p:nvPr></p:nvPr></p:nvSpPr><p:spPr><a:xfrm><a:off x="6355080" y="3611880"/><a:ext cx="5120640" cy="320040"/></a:xfrm><a:prstGeom prst="roundRect"><a:avLst><a:gd name="adj" fmla="val 17143"/></a:avLst></a:prstGeom><a:solidFill><a:srgbClr val="111827"/></a:solidFill><a:ln w="12700"><a:solidFill><a:srgbClr val="111827"/></a:solidFill><a:prstDash val="solid"/></a:ln></p:spPr></p:sp><p:sp><p:nvSpPr><p:cNvPr id="43" name="Text 41"></p:cNvPr><p:cNvSpPr/><p:nvPr></p:nvPr></p:nvSpPr><p:spPr><a:xfrm><a:off x="6492240" y="3611880"/><a:ext cx="4846320" cy="32004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argmax_{t∈Top-K} Affinity(thief, Footprint(t))</a:t></a:r><a:endParaRPr lang="en-US" sz="1000" dirty="0"/></a:p></p:txBody></p:sp><p:sp><p:nvSpPr><p:cNvPr id="44" name="Shape 42"></p:cNvPr><p:cNvSpPr/><p:nvPr></p:nvPr></p:nvSpPr><p:spPr><a:xfrm><a:off x="411480" y="4160520"/><a:ext cx="5486400" cy="1508760"/></a:xfrm><a:prstGeom prst="roundRect"><a:avLst><a:gd name="adj" fmla="val 4848"/></a:avLst></a:prstGeom><a:solidFill><a:srgbClr val="F4F0EA"/></a:solidFill><a:ln w="25400"><a:solidFill><a:srgbClr val="111827"/></a:solidFill><a:prstDash val="solid"/></a:ln><a:effectLst> <a:outerShdw sx="100000" sy="100000" kx="0" ky="0" algn="bl" rotWithShape="0" blurRad="38100" dist="50800" dir="16200000"> <a:srgbClr val="C8C6BF"> <a:alpha val="75000"/></a:srgbClr> </a:outerShdw></a:effectLst></p:spPr></p:sp><p:sp><p:nvSpPr><p:cNvPr id="45" name="Shape 43"></p:cNvPr><p:cNvSpPr/><p:nvPr></p:nvPr></p:nvSpPr><p:spPr><a:xfrm><a:off x="594360" y="4389120"/><a:ext cx="822960" cy="502920"/></a:xfrm><a:prstGeom prst="ellipse"><a:avLst></a:avLst></a:prstGeom><a:solidFill><a:srgbClr val="FFD147"/></a:solidFill><a:ln w="19050"><a:solidFill><a:srgbClr val="111827"/></a:solidFill><a:prstDash val="solid"/></a:ln></p:spPr></p:sp><p:sp><p:nvSpPr><p:cNvPr id="46" name="Text 44"></p:cNvPr><p:cNvSpPr/><p:nvPr></p:nvPr></p:nvSpPr><p:spPr><a:xfrm><a:off x="594360" y="4389120"/><a:ext cx="822960" cy="50292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N-C</a:t></a:r><a:endParaRPr lang="en-US" sz="1600" dirty="0"/></a:p></p:txBody></p:sp><p:sp><p:nvSpPr><p:cNvPr id="47" name="Text 45"></p:cNvPr><p:cNvSpPr/><p:nvPr></p:nvPr></p:nvSpPr><p:spPr><a:xfrm><a:off x="1508760" y="4389120"/><a:ext cx="4206240" cy="32004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Adaptive Vicinity Radius</a:t></a:r><a:endParaRPr lang="en-US" sz="1600" dirty="0"/></a:p></p:txBody></p:sp><p:sp><p:nvSpPr><p:cNvPr id="48" name="Shape 46"></p:cNvPr><p:cNvSpPr/><p:nvPr></p:nvPr></p:nvSpPr><p:spPr><a:xfrm><a:off x="1508760" y="4754880"/><a:ext cx="914400" cy="228600"/></a:xfrm><a:prstGeom prst="roundRect"><a:avLst><a:gd name="adj" fmla="val 48000"/></a:avLst></a:prstGeom><a:solidFill><a:srgbClr val="DCE4FF"/></a:solidFill><a:ln w="12700"><a:solidFill><a:srgbClr val="DCE4FF"/></a:solidFill><a:prstDash val="solid"/></a:ln></p:spPr></p:sp><p:sp><p:nvSpPr><p:cNvPr id="49" name="Text 47"></p:cNvPr><p:cNvSpPr/><p:nvPr></p:nvPr></p:nvSpPr><p:spPr><a:xfrm><a:off x="1508760" y="4754880"/><a:ext cx="914400" cy="22860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Fixes H1</a:t></a:r><a:endParaRPr lang="en-US" sz="900" dirty="0"/></a:p></p:txBody></p:sp><p:sp><p:nvSpPr><p:cNvPr id="50" name="Text 48"></p:cNvPr><p:cNvSpPr/><p:nvPr></p:nvPr></p:nvSpPr><p:spPr><a:xfrm><a:off x="1508760" y="5029200"/><a:ext cx="4206240" cy="3200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100" dirty="0"><a:solidFill><a:srgbClr val="374151"/></a:solidFill><a:latin typeface="Inter, "Segoe UI", sans-serif" pitchFamily="34" charset="0"/><a:ea typeface="Inter, "Segoe UI", sans-serif" pitchFamily="34" charset="-122"/><a:cs typeface="Inter, "Segoe UI", sans-serif" pitchFamily="34" charset="-120"/></a:rPr><a:t>Per-worker EWMA adjusts reach: expands during starvation, contracts when balanced.</a:t></a:r><a:endParaRPr lang="en-US" sz="1100" dirty="0"/></a:p></p:txBody></p:sp><p:sp><p:nvSpPr><p:cNvPr id="51" name="Shape 49"></p:cNvPr><p:cNvSpPr/><p:nvPr></p:nvPr></p:nvSpPr><p:spPr><a:xfrm><a:off x="594360" y="5303520"/><a:ext cx="5120640" cy="320040"/></a:xfrm><a:prstGeom prst="roundRect"><a:avLst><a:gd name="adj" fmla="val 17143"/></a:avLst></a:prstGeom><a:solidFill><a:srgbClr val="111827"/></a:solidFill><a:ln w="12700"><a:solidFill><a:srgbClr val="111827"/></a:solidFill><a:prstDash val="solid"/></a:ln></p:spPr></p:sp><p:sp><p:nvSpPr><p:cNvPr id="52" name="Text 50"></p:cNvPr><p:cNvSpPr/><p:nvPr></p:nvPr></p:nvSpPr><p:spPr><a:xfrm><a:off x="731520" y="5303520"/><a:ext cx="4846320" cy="32004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radius_{t+1} = clamp(radius_t + sign(rate_EWMA−target), 1, D_max)</a:t></a:r><a:endParaRPr lang="en-US" sz="1000" dirty="0"/></a:p></p:txBody></p:sp><p:sp><p:nvSpPr><p:cNvPr id="53" name="Shape 51"></p:cNvPr><p:cNvSpPr/><p:nvPr></p:nvPr></p:nvSpPr><p:spPr><a:xfrm><a:off x="6172200" y="4160520"/><a:ext cx="5486400" cy="1508760"/></a:xfrm><a:prstGeom prst="roundRect"><a:avLst><a:gd name="adj" fmla="val 4848"/></a:avLst></a:prstGeom><a:solidFill><a:srgbClr val="EFEAE3"/></a:solidFill><a:ln w="25400"><a:solidFill><a:srgbClr val="111827"/></a:solidFill><a:prstDash val="solid"/></a:ln><a:effectLst> <a:outerShdw sx="100000" sy="100000" kx="0" ky="0" algn="bl" rotWithShape="0" blurRad="38100" dist="50800" dir="16200000"> <a:srgbClr val="C8C6BF"> <a:alpha val="75000"/></a:srgbClr> </a:outerShdw></a:effectLst></p:spPr></p:sp><p:sp><p:nvSpPr><p:cNvPr id="54" name="Shape 52"></p:cNvPr><p:cNvSpPr/><p:nvPr></p:nvPr></p:nvSpPr><p:spPr><a:xfrm><a:off x="6355080" y="4389120"/><a:ext cx="822960" cy="502920"/></a:xfrm><a:prstGeom prst="ellipse"><a:avLst></a:avLst></a:prstGeom><a:solidFill><a:srgbClr val="FFD147"/></a:solidFill><a:ln w="19050"><a:solidFill><a:srgbClr val="111827"/></a:solidFill><a:prstDash val="solid"/></a:ln></p:spPr></p:sp><p:sp><p:nvSpPr><p:cNvPr id="55" name="Text 53"></p:cNvPr><p:cNvSpPr/><p:nvPr></p:nvPr></p:nvSpPr><p:spPr><a:xfrm><a:off x="6355080" y="4389120"/><a:ext cx="822960" cy="50292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N-D</a:t></a:r><a:endParaRPr lang="en-US" sz="1600" dirty="0"/></a:p></p:txBody></p:sp><p:sp><p:nvSpPr><p:cNvPr id="56" name="Text 54"></p:cNvPr><p:cNvSpPr/><p:nvPr></p:nvPr></p:nvSpPr><p:spPr><a:xfrm><a:off x="7269480" y="4389120"/><a:ext cx="4206240" cy="320040"/></a:xfrm><a:prstGeom prst="rect"><a:avLst></a:avLst></a:prstGeom><a:noFill/><a:ln></a:ln></p:spPr><p:txBody><a:bodyPr wrap="square" rtlCol="0" anchor="ctr"></a:bodyPr><a:lstStyle/><a:p><a:pPr indent="0" marL="0"><a:buNone/></a:pPr><a:r><a:rPr lang="en-US" sz="1600" b="1" dirty="0"><a:solidFill><a:srgbClr val="111827"/></a:solidFill><a:latin typeface="Arial Black, "Trebuchet MS", "Helvetica Neue", sans-serif" pitchFamily="34" charset="0"/><a:ea typeface="Arial Black, "Trebuchet MS", "Helvetica Neue", sans-serif" pitchFamily="34" charset="-122"/><a:cs typeface="Arial Black, "Trebuchet MS", "Helvetica Neue", sans-serif" pitchFamily="34" charset="-120"/></a:rPr><a:t>Dynamic Migration &amp; Zero Locks</a:t></a:r><a:endParaRPr lang="en-US" sz="1600" dirty="0"/></a:p></p:txBody></p:sp><p:sp><p:nvSpPr><p:cNvPr id="57" name="Shape 55"></p:cNvPr><p:cNvSpPr/><p:nvPr></p:nvPr></p:nvSpPr><p:spPr><a:xfrm><a:off x="7269480" y="4754880"/><a:ext cx="914400" cy="228600"/></a:xfrm><a:prstGeom prst="roundRect"><a:avLst><a:gd name="adj" fmla="val 48000"/></a:avLst></a:prstGeom><a:solidFill><a:srgbClr val="DCE4FF"/></a:solidFill><a:ln w="12700"><a:solidFill><a:srgbClr val="DCE4FF"/></a:solidFill><a:prstDash val="solid"/></a:ln></p:spPr></p:sp><p:sp><p:nvSpPr><p:cNvPr id="58" name="Text 56"></p:cNvPr><p:cNvSpPr/><p:nvPr></p:nvPr></p:nvSpPr><p:spPr><a:xfrm><a:off x="7269480" y="4754880"/><a:ext cx="914400" cy="228600"/></a:xfrm><a:prstGeom prst="rect"><a:avLst></a:avLst></a:prstGeom><a:noFill/><a:ln></a:ln></p:spPr><p:txBody><a:bodyPr wrap="square" rtlCol="0" anchor="ctr"></a:bodyPr><a:lstStyle/><a:p><a:pPr algn="ctr" indent="0" marL="0"><a:buNone/></a:pPr><a:r><a:rPr lang="en-US" sz="900" b="1" dirty="0"><a:solidFill><a:srgbClr val="11182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Fixes H6, H8</a:t></a:r><a:endParaRPr lang="en-US" sz="900" dirty="0"/></a:p></p:txBody></p:sp><p:sp><p:nvSpPr><p:cNvPr id="59" name="Text 57"></p:cNvPr><p:cNvSpPr/><p:nvPr></p:nvPr></p:nvSpPr><p:spPr><a:xfrm><a:off x="7269480" y="5029200"/><a:ext cx="4206240" cy="320040"/></a:xfrm><a:prstGeom prst="rect"><a:avLst></a:avLst></a:prstGeom><a:noFill/><a:ln></a:ln></p:spPr><p:txBody><a:bodyPr wrap="square" rtlCol="0" anchor="ctr"></a:bodyPr><a:lstStyle/><a:p><a:pPr indent="0" marL="0"><a:lnSpc><a:spcPts val="1100"/></a:lnSpc><a:buNone/></a:pPr><a:r><a:rPr lang="en-US" sz="1100" dirty="0"><a:solidFill><a:srgbClr val="374151"/></a:solidFill><a:latin typeface="Inter, "Segoe UI", sans-serif" pitchFamily="34" charset="0"/><a:ea typeface="Inter, "Segoe UI", sans-serif" pitchFamily="34" charset="-122"/><a:cs typeface="Inter, "Segoe UI", sans-serif" pitchFamily="34" charset="-120"/></a:rPr><a:t>Re-home lines when Acc_Benefit &gt; C_mig (~120 cyc). Double-buffered CAS swap every 64 ops.</a:t></a:r><a:endParaRPr lang="en-US" sz="1100" dirty="0"/></a:p></p:txBody></p:sp><p:sp><p:nvSpPr><p:cNvPr id="60" name="Shape 58"></p:cNvPr><p:cNvSpPr/><p:nvPr></p:nvPr></p:nvSpPr><p:spPr><a:xfrm><a:off x="6355080" y="5303520"/><a:ext cx="5120640" cy="320040"/></a:xfrm><a:prstGeom prst="roundRect"><a:avLst><a:gd name="adj" fmla="val 17143"/></a:avLst></a:prstGeom><a:solidFill><a:srgbClr val="111827"/></a:solidFill><a:ln w="12700"><a:solidFill><a:srgbClr val="111827"/></a:solidFill><a:prstDash val="solid"/></a:ln></p:spPr></p:sp><p:sp><p:nvSpPr><p:cNvPr id="61" name="Text 59"></p:cNvPr><p:cNvSpPr/><p:nvPr></p:nvPr></p:nvSpPr><p:spPr><a:xfrm><a:off x="6492240" y="5303520"/><a:ext cx="4846320" cy="320040"/></a:xfrm><a:prstGeom prst="rect"><a:avLst></a:avLst></a:prstGeom><a:noFill/><a:ln></a:ln></p:spPr><p:txBody><a:bodyPr wrap="square" rtlCol="0" anchor="ctr"></a:bodyPr><a:lstStyle/><a:p><a:pPr indent="0" marL="0"><a:buNone/></a:pPr><a:r><a:rPr lang="en-US" sz="1000" dirty="0"><a:solidFill><a:srgbClr val="FFD147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Trigger IF (Acc_Benefit &gt; 120 cycles)</a:t></a:r><a:endParaRPr lang="en-US" sz="1000" dirty="0"/></a:p></p:txBody></p:sp><p:sp><p:nvSpPr><p:cNvPr id="62" name="Shape 60"></p:cNvPr><p:cNvSpPr/><p:nvPr></p:nvPr></p:nvSpPr><p:spPr><a:xfrm><a:off x="411480" y="5943600"/><a:ext cx="11338560" cy="502920"/></a:xfrm><a:prstGeom prst="roundRect"><a:avLst><a:gd name="adj" fmla="val 10909"/></a:avLst></a:prstGeom><a:solidFill><a:srgbClr val="FFD147"/></a:solidFill><a:ln w="31750"><a:solidFill><a:srgbClr val="111827"/></a:solidFill><a:prstDash val="solid"/></a:ln></p:spPr></p:sp><p:sp><p:nvSpPr><p:cNvPr id="63" name="Text 61"></p:cNvPr><p:cNvSpPr/><p:nvPr></p:nvPr></p:nvSpPr><p:spPr><a:xfrm><a:off x="640080" y="5989320"/><a:ext cx="10881360" cy="411480"/></a:xfrm><a:prstGeom prst="rect"><a:avLst></a:avLst></a:prstGeom><a:noFill/><a:ln></a:ln></p:spPr><p:txBody><a:bodyPr wrap="square" rtlCol="0" anchor="ctr"></a:bodyPr><a:lstStyle/><a:p><a:pPr algn="ctr" indent="0" marL="0"><a:buNone/></a:pPr><a:r><a:rPr lang="en-US" sz="1300" b="1" dirty="0"><a:solidFill><a:srgbClr val="111827"/></a:solidFill><a:latin typeface="Inter, "Segoe UI", sans-serif" pitchFamily="34" charset="0"/><a:ea typeface="Inter, "Segoe UI", sans-serif" pitchFamily="34" charset="-122"/><a:cs typeface="Inter, "Segoe UI", sans-serif" pitchFamily="34" charset="-120"/></a:rPr><a:t>NOVA PRINCIPLE  ·  Maximize memory locality when queues are balanced; dynamically transition to load-balancing when backlog threatens idle stalls.</a:t></a:r><a:endParaRPr lang="en-US" sz="1300" dirty="0"/></a:p></p:txBody></p:sp><p:sp><p:nvSpPr><p:cNvPr id="64" name="Text 62"></p:cNvPr><p:cNvSpPr/><p:nvPr></p:nvPr></p:nvSpPr><p:spPr><a:xfrm><a:off x="411480" y="6537960"/><a:ext cx="11338560" cy="18288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6B6B6B"/></a:solidFill><a:latin typeface=""JetBrains Mono", "Courier New", monospace" pitchFamily="34" charset="0"/><a:ea typeface=""JetBrains Mono", "Courier New", monospace" pitchFamily="34" charset="-122"/><a:cs typeface=""JetBrains Mono", "Courier New", monospace" pitchFamily="34" charset="-120"/></a:rPr><a:t>NOVA / ALLoC Scheduler Architecture · High-Performance Computing  ·  05 / 05</a:t></a:r><a:endParaRPr lang="en-US" sz="900" dirty="0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2026-10-08T18:37:25Z</dcterms:created>
  <dcterms:modified xsi:type="dcterms:W3CDTF">2026-10-08T18:37:25Z</dcterms:modified>
</cp:coreProperties>
</file>